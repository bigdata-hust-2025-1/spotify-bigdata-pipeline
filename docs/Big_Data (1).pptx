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1"/>
  </p:notesMasterIdLst>
  <p:handoutMasterIdLst>
    <p:handoutMasterId r:id="rId12"/>
  </p:handoutMasterIdLst>
  <p:sldIdLst>
    <p:sldId id="275" r:id="rId2"/>
    <p:sldId id="257" r:id="rId3"/>
    <p:sldId id="265" r:id="rId4"/>
    <p:sldId id="276" r:id="rId5"/>
    <p:sldId id="277" r:id="rId6"/>
    <p:sldId id="278" r:id="rId7"/>
    <p:sldId id="279" r:id="rId8"/>
    <p:sldId id="261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3810" autoAdjust="0"/>
  </p:normalViewPr>
  <p:slideViewPr>
    <p:cSldViewPr snapToGrid="0">
      <p:cViewPr varScale="1">
        <p:scale>
          <a:sx n="81" d="100"/>
          <a:sy n="81" d="100"/>
        </p:scale>
        <p:origin x="1920" y="56"/>
      </p:cViewPr>
      <p:guideLst/>
    </p:cSldViewPr>
  </p:slideViewPr>
  <p:notesTextViewPr>
    <p:cViewPr>
      <p:scale>
        <a:sx n="1" d="1"/>
        <a:sy n="1" d="1"/>
      </p:scale>
      <p:origin x="0" y="-733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err="1"/>
              <a:t>Spotify</a:t>
            </a:r>
            <a:r>
              <a:rPr lang="vi-VN" dirty="0"/>
              <a:t> có hơn 100 triệu bài hát, dữ liệu cập nhật theo thời gian thực. Điều đó đặt ra bài toán </a:t>
            </a:r>
            <a:r>
              <a:rPr lang="vi-VN" dirty="0" err="1"/>
              <a:t>Big</a:t>
            </a:r>
            <a:r>
              <a:rPr lang="vi-VN" dirty="0"/>
              <a:t> </a:t>
            </a:r>
            <a:r>
              <a:rPr lang="vi-VN" dirty="0" err="1"/>
              <a:t>Data</a:t>
            </a:r>
            <a:r>
              <a:rPr lang="vi-VN" dirty="0"/>
              <a:t> điển hình.</a:t>
            </a:r>
            <a:endParaRPr lang="en-US" dirty="0"/>
          </a:p>
          <a:p>
            <a:endParaRPr lang="en-US" dirty="0"/>
          </a:p>
          <a:p>
            <a:r>
              <a:rPr lang="vi-VN" b="1" dirty="0"/>
              <a:t>Hệ thống thu thập, lưu trữ và phân tích dữ liệu âm nhạc từ </a:t>
            </a:r>
            <a:r>
              <a:rPr lang="vi-VN" b="1" dirty="0" err="1"/>
              <a:t>Spotify</a:t>
            </a:r>
            <a:r>
              <a:rPr lang="vi-VN" b="1" dirty="0"/>
              <a:t>”</a:t>
            </a:r>
            <a:br>
              <a:rPr lang="vi-VN" dirty="0"/>
            </a:br>
            <a:r>
              <a:rPr lang="vi-VN" dirty="0"/>
              <a:t>thuộc môn học </a:t>
            </a:r>
            <a:r>
              <a:rPr lang="vi-VN" i="1" dirty="0"/>
              <a:t>Lưu trữ và Xử lý Dữ liệu Lớn</a:t>
            </a:r>
            <a:r>
              <a:rPr lang="vi-VN" dirty="0"/>
              <a:t> do thầy Trần Việt Trung hướng dẫn.</a:t>
            </a:r>
          </a:p>
          <a:p>
            <a:r>
              <a:rPr lang="vi-VN" dirty="0" err="1"/>
              <a:t>Spotify</a:t>
            </a:r>
            <a:r>
              <a:rPr lang="vi-VN" dirty="0"/>
              <a:t> là một nền tảng âm nhạc lớn với </a:t>
            </a:r>
            <a:r>
              <a:rPr lang="vi-VN" b="1" dirty="0"/>
              <a:t>hàng triệu bản ghi</a:t>
            </a:r>
            <a:r>
              <a:rPr lang="vi-VN" dirty="0"/>
              <a:t> và </a:t>
            </a:r>
            <a:r>
              <a:rPr lang="vi-VN" b="1" dirty="0"/>
              <a:t>người nghe toàn cầu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Dữ liệu âm nhạc ở đây </a:t>
            </a:r>
            <a:r>
              <a:rPr lang="vi-VN" b="1" dirty="0"/>
              <a:t>đa dạng, nhiều chiều, và được cập nhật liên tục</a:t>
            </a:r>
            <a:r>
              <a:rPr lang="vi-VN" dirty="0"/>
              <a:t>, nên rất phù hợp để áp dụng </a:t>
            </a:r>
            <a:r>
              <a:rPr lang="vi-VN" b="1" dirty="0"/>
              <a:t>kiến trúc </a:t>
            </a:r>
            <a:r>
              <a:rPr lang="vi-VN" b="1" dirty="0" err="1"/>
              <a:t>Big</a:t>
            </a:r>
            <a:r>
              <a:rPr lang="vi-VN" b="1" dirty="0"/>
              <a:t> </a:t>
            </a:r>
            <a:r>
              <a:rPr lang="vi-VN" b="1" dirty="0" err="1"/>
              <a:t>Data</a:t>
            </a:r>
            <a:r>
              <a:rPr lang="vi-VN" dirty="0"/>
              <a:t> cho việc thu thập, xử lý và phân tích theo thời gian thực.</a:t>
            </a:r>
          </a:p>
          <a:p>
            <a:r>
              <a:rPr lang="vi-VN" dirty="0"/>
              <a:t>Từ đó, nhóm em chọn chủ đề này nhằm </a:t>
            </a:r>
            <a:r>
              <a:rPr lang="vi-VN" b="1" dirty="0"/>
              <a:t>ứng dụng các công nghệ dữ liệu lớn hiện đại</a:t>
            </a:r>
            <a:r>
              <a:rPr lang="vi-VN" dirty="0"/>
              <a:t> để hiểu cách mà hệ thống âm nhạc như </a:t>
            </a:r>
            <a:r>
              <a:rPr lang="vi-VN" dirty="0" err="1"/>
              <a:t>Spotify</a:t>
            </a:r>
            <a:r>
              <a:rPr lang="vi-VN" dirty="0"/>
              <a:t> vận hành và đưa ra đề xuất cá nhân hóa.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D9E4-4160-569F-A850-6FA545E3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2FE056C6-69B4-F990-3B1E-08AE0A2AD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80322FBA-13B1-343B-8CF1-9DB94D583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Mục tiêu chính của đề tài gồm 4 phần:</a:t>
            </a:r>
            <a:br>
              <a:rPr lang="vi-VN" dirty="0"/>
            </a:br>
            <a:r>
              <a:rPr lang="vi-VN" dirty="0"/>
              <a:t>(1) </a:t>
            </a:r>
            <a:r>
              <a:rPr lang="vi-VN" b="1" dirty="0"/>
              <a:t>Thu thập dữ liệu</a:t>
            </a:r>
            <a:r>
              <a:rPr lang="vi-VN" dirty="0"/>
              <a:t> từ </a:t>
            </a:r>
            <a:r>
              <a:rPr lang="vi-VN" dirty="0" err="1"/>
              <a:t>Spotify</a:t>
            </a:r>
            <a:r>
              <a:rPr lang="vi-VN" dirty="0"/>
              <a:t> API – bao gồm thông tin bài hát, nghệ sĩ và đặc trưng âm thanh.</a:t>
            </a:r>
            <a:br>
              <a:rPr lang="vi-VN" dirty="0"/>
            </a:br>
            <a:r>
              <a:rPr lang="vi-VN" dirty="0"/>
              <a:t>(2) </a:t>
            </a:r>
            <a:r>
              <a:rPr lang="vi-VN" b="1" dirty="0"/>
              <a:t>Trích xuất và phân tích các </a:t>
            </a:r>
            <a:r>
              <a:rPr lang="vi-VN" b="1" dirty="0" err="1"/>
              <a:t>audio</a:t>
            </a:r>
            <a:r>
              <a:rPr lang="vi-VN" b="1" dirty="0"/>
              <a:t> </a:t>
            </a:r>
            <a:r>
              <a:rPr lang="vi-VN" b="1" dirty="0" err="1"/>
              <a:t>features</a:t>
            </a:r>
            <a:r>
              <a:rPr lang="vi-VN" dirty="0"/>
              <a:t> như </a:t>
            </a:r>
            <a:r>
              <a:rPr lang="vi-VN" dirty="0" err="1"/>
              <a:t>tempo</a:t>
            </a:r>
            <a:r>
              <a:rPr lang="vi-VN" dirty="0"/>
              <a:t>, </a:t>
            </a:r>
            <a:r>
              <a:rPr lang="vi-VN" dirty="0" err="1"/>
              <a:t>energy</a:t>
            </a:r>
            <a:r>
              <a:rPr lang="vi-VN" dirty="0"/>
              <a:t>, </a:t>
            </a:r>
            <a:r>
              <a:rPr lang="vi-VN" dirty="0" err="1"/>
              <a:t>danceability</a:t>
            </a:r>
            <a:r>
              <a:rPr lang="vi-VN" dirty="0"/>
              <a:t>,…</a:t>
            </a:r>
            <a:br>
              <a:rPr lang="vi-VN" dirty="0"/>
            </a:br>
            <a:r>
              <a:rPr lang="vi-VN" dirty="0"/>
              <a:t>(3) </a:t>
            </a:r>
            <a:r>
              <a:rPr lang="vi-VN" b="1" dirty="0"/>
              <a:t>Phát hiện xu hướng nghe nhạc</a:t>
            </a:r>
            <a:r>
              <a:rPr lang="vi-VN" dirty="0"/>
              <a:t> theo thời gian, thể loại và khu vực.</a:t>
            </a:r>
            <a:br>
              <a:rPr lang="vi-VN" dirty="0"/>
            </a:br>
            <a:r>
              <a:rPr lang="vi-VN" dirty="0"/>
              <a:t>(4) </a:t>
            </a:r>
            <a:r>
              <a:rPr lang="vi-VN" b="1" dirty="0"/>
              <a:t>Huấn luyện mô hình gợi ý nhạc cá nhân hóa</a:t>
            </a:r>
            <a:r>
              <a:rPr lang="vi-VN" dirty="0"/>
              <a:t> và </a:t>
            </a:r>
            <a:r>
              <a:rPr lang="vi-VN" b="1" dirty="0"/>
              <a:t>trực quan hóa kết quả qua </a:t>
            </a:r>
            <a:r>
              <a:rPr lang="vi-VN" b="1" dirty="0" err="1"/>
              <a:t>dashboard</a:t>
            </a:r>
            <a:r>
              <a:rPr lang="vi-VN" dirty="0"/>
              <a:t>.</a:t>
            </a:r>
          </a:p>
          <a:p>
            <a:r>
              <a:rPr lang="vi-VN" dirty="0"/>
              <a:t>Kết quả kỳ vọng là nhóm sẽ xây dựng </a:t>
            </a:r>
            <a:r>
              <a:rPr lang="vi-VN" b="1" dirty="0"/>
              <a:t>một </a:t>
            </a:r>
            <a:r>
              <a:rPr lang="vi-VN" b="1" dirty="0" err="1"/>
              <a:t>pipeline</a:t>
            </a:r>
            <a:r>
              <a:rPr lang="vi-VN" b="1" dirty="0"/>
              <a:t> dữ liệu lớn </a:t>
            </a:r>
            <a:r>
              <a:rPr lang="vi-VN" b="1" dirty="0" err="1"/>
              <a:t>end</a:t>
            </a:r>
            <a:r>
              <a:rPr lang="vi-VN" b="1" dirty="0"/>
              <a:t>-to-</a:t>
            </a:r>
            <a:r>
              <a:rPr lang="vi-VN" b="1" dirty="0" err="1"/>
              <a:t>end</a:t>
            </a:r>
            <a:r>
              <a:rPr lang="vi-VN" dirty="0"/>
              <a:t>, từ </a:t>
            </a:r>
            <a:r>
              <a:rPr lang="vi-VN" b="1" dirty="0"/>
              <a:t>thu thập → xử lý → lưu trữ → phân tích</a:t>
            </a:r>
            <a:r>
              <a:rPr lang="vi-VN" dirty="0"/>
              <a:t>, áp dụng theo </a:t>
            </a:r>
            <a:r>
              <a:rPr lang="vi-VN" b="1" dirty="0" err="1"/>
              <a:t>Lambda</a:t>
            </a:r>
            <a:r>
              <a:rPr lang="vi-VN" b="1" dirty="0"/>
              <a:t> </a:t>
            </a:r>
            <a:r>
              <a:rPr lang="vi-VN" b="1" dirty="0" err="1"/>
              <a:t>Architecture</a:t>
            </a:r>
            <a:r>
              <a:rPr lang="vi-VN" dirty="0"/>
              <a:t> để xử lý dữ liệu âm nhạc cả ở mức </a:t>
            </a:r>
            <a:r>
              <a:rPr lang="vi-VN" dirty="0" err="1"/>
              <a:t>real-time</a:t>
            </a:r>
            <a:r>
              <a:rPr lang="vi-VN" dirty="0"/>
              <a:t> lẫn </a:t>
            </a:r>
            <a:r>
              <a:rPr lang="vi-VN" dirty="0" err="1"/>
              <a:t>batch</a:t>
            </a:r>
            <a:r>
              <a:rPr lang="vi-VN" dirty="0"/>
              <a:t>.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4FA95C5-90CF-74FF-DC12-BC638071E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6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7F3D-3891-F70E-1CDD-4C96331C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9AFECE7B-B2CF-E729-E36E-D2802602C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3AA07A1C-2D9C-606A-AC34-2B39F7CFC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Dự án của nhóm thực hiện trong </a:t>
            </a:r>
            <a:r>
              <a:rPr lang="vi-VN" b="1" dirty="0"/>
              <a:t>8 tuần</a:t>
            </a:r>
            <a:r>
              <a:rPr lang="vi-VN" dirty="0"/>
              <a:t>, gồm </a:t>
            </a:r>
            <a:r>
              <a:rPr lang="vi-VN" b="1" dirty="0"/>
              <a:t>5 thành viên</a:t>
            </a:r>
            <a:r>
              <a:rPr lang="vi-VN" dirty="0"/>
              <a:t> thuộc ngành Khoa học Máy tính.</a:t>
            </a:r>
            <a:br>
              <a:rPr lang="vi-VN" dirty="0"/>
            </a:br>
            <a:r>
              <a:rPr lang="vi-VN" dirty="0"/>
              <a:t>Phạm vi đề tài là </a:t>
            </a:r>
            <a:r>
              <a:rPr lang="vi-VN" b="1" dirty="0"/>
              <a:t>thu thập và mô phỏng dữ liệu âm nhạc từ </a:t>
            </a:r>
            <a:r>
              <a:rPr lang="vi-VN" b="1" dirty="0" err="1"/>
              <a:t>Spotify</a:t>
            </a:r>
            <a:r>
              <a:rPr lang="vi-VN" dirty="0"/>
              <a:t>, xử lý trong phạm vi quy mô vừa (từ 1 đến vài triệu bản ghi).</a:t>
            </a:r>
          </a:p>
          <a:p>
            <a:r>
              <a:rPr lang="vi-VN" dirty="0"/>
              <a:t>Hệ thống chỉ tập trung vào </a:t>
            </a:r>
            <a:r>
              <a:rPr lang="vi-VN" b="1" dirty="0"/>
              <a:t>phân tích dữ liệu mở</a:t>
            </a:r>
            <a:r>
              <a:rPr lang="vi-VN" dirty="0"/>
              <a:t>, không liên quan tới dữ liệu người dùng thực hoặc bản quyền âm nhạc.</a:t>
            </a:r>
            <a:br>
              <a:rPr lang="vi-VN" dirty="0"/>
            </a:br>
            <a:r>
              <a:rPr lang="vi-VN" dirty="0"/>
              <a:t>Kết quả của nhóm hướng đến </a:t>
            </a:r>
            <a:r>
              <a:rPr lang="vi-VN" b="1" dirty="0"/>
              <a:t>tính mô phỏng và tính học thuật</a:t>
            </a:r>
            <a:r>
              <a:rPr lang="vi-VN" dirty="0"/>
              <a:t>, giúp hiểu cách các hệ thống đề xuất quy mô lớn hoạt động.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519BA4C-5819-1BBD-061C-ECEEAD84A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39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5061-26C3-9D0A-6ED6-37FB8551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E2D733C6-2772-B3B7-4EB7-906581991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D67CC36A-B0F8-BEE1-CC6F-6596A8BB5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Tầng</a:t>
            </a:r>
            <a:r>
              <a:rPr lang="en-US" dirty="0"/>
              <a:t> batch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– </a:t>
            </a:r>
            <a:r>
              <a:rPr lang="en-US" dirty="0" err="1"/>
              <a:t>tầng</a:t>
            </a:r>
            <a:r>
              <a:rPr lang="en-US" dirty="0"/>
              <a:t> speed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– </a:t>
            </a:r>
            <a:r>
              <a:rPr lang="en-US" dirty="0" err="1"/>
              <a:t>tầng</a:t>
            </a:r>
            <a:r>
              <a:rPr lang="en-US" dirty="0"/>
              <a:t> serving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  <a:p>
            <a:r>
              <a:rPr lang="vi-VN" dirty="0"/>
              <a:t>Hệ thống được thiết kế dựa trên </a:t>
            </a:r>
            <a:r>
              <a:rPr lang="vi-VN" b="1" dirty="0"/>
              <a:t>kiến trúc </a:t>
            </a:r>
            <a:r>
              <a:rPr lang="vi-VN" b="1" dirty="0" err="1"/>
              <a:t>Lambda</a:t>
            </a:r>
            <a:r>
              <a:rPr lang="vi-VN" dirty="0"/>
              <a:t>, gồm 3 tầng chính:</a:t>
            </a:r>
          </a:p>
          <a:p>
            <a:r>
              <a:rPr lang="en-US" dirty="0"/>
              <a:t>🔸 </a:t>
            </a:r>
            <a:r>
              <a:rPr lang="vi-VN" b="1" dirty="0"/>
              <a:t>Tầng </a:t>
            </a:r>
            <a:r>
              <a:rPr lang="vi-VN" b="1" dirty="0" err="1"/>
              <a:t>Ingestion</a:t>
            </a:r>
            <a:r>
              <a:rPr lang="vi-VN" b="1" dirty="0"/>
              <a:t>:</a:t>
            </a:r>
            <a:r>
              <a:rPr lang="vi-VN" dirty="0"/>
              <a:t> thu thập dữ liệu </a:t>
            </a:r>
            <a:r>
              <a:rPr lang="vi-VN" dirty="0" err="1"/>
              <a:t>streaming</a:t>
            </a:r>
            <a:r>
              <a:rPr lang="vi-VN" dirty="0"/>
              <a:t> và </a:t>
            </a:r>
            <a:r>
              <a:rPr lang="vi-VN" dirty="0" err="1"/>
              <a:t>batch</a:t>
            </a:r>
            <a:r>
              <a:rPr lang="vi-VN" dirty="0"/>
              <a:t> từ </a:t>
            </a:r>
            <a:r>
              <a:rPr lang="vi-VN" dirty="0" err="1"/>
              <a:t>Spotify</a:t>
            </a:r>
            <a:r>
              <a:rPr lang="vi-VN" dirty="0"/>
              <a:t> API.</a:t>
            </a:r>
            <a:br>
              <a:rPr lang="vi-VN" dirty="0"/>
            </a:br>
            <a:r>
              <a:rPr lang="en-US" dirty="0"/>
              <a:t>🔸 </a:t>
            </a:r>
            <a:r>
              <a:rPr lang="vi-VN" b="1" dirty="0"/>
              <a:t>Tầng </a:t>
            </a:r>
            <a:r>
              <a:rPr lang="vi-VN" b="1" dirty="0" err="1"/>
              <a:t>Processing</a:t>
            </a:r>
            <a:r>
              <a:rPr lang="vi-VN" b="1" dirty="0"/>
              <a:t>:</a:t>
            </a:r>
            <a:r>
              <a:rPr lang="vi-VN" dirty="0"/>
              <a:t> xử lý song </a:t>
            </a:r>
            <a:r>
              <a:rPr lang="vi-VN" dirty="0" err="1"/>
              <a:t>song</a:t>
            </a:r>
            <a:r>
              <a:rPr lang="vi-VN" dirty="0"/>
              <a:t> dữ liệu </a:t>
            </a:r>
            <a:r>
              <a:rPr lang="vi-VN" dirty="0" err="1"/>
              <a:t>real-time</a:t>
            </a:r>
            <a:r>
              <a:rPr lang="vi-VN" dirty="0"/>
              <a:t> và dữ liệu lịch sử bằng </a:t>
            </a:r>
            <a:r>
              <a:rPr lang="vi-VN" dirty="0" err="1"/>
              <a:t>Spark</a:t>
            </a:r>
            <a:r>
              <a:rPr lang="vi-VN" dirty="0"/>
              <a:t> và </a:t>
            </a:r>
            <a:r>
              <a:rPr lang="vi-VN" dirty="0" err="1"/>
              <a:t>Flink</a:t>
            </a:r>
            <a:r>
              <a:rPr lang="vi-VN" dirty="0"/>
              <a:t>.</a:t>
            </a:r>
            <a:br>
              <a:rPr lang="vi-VN" dirty="0"/>
            </a:br>
            <a:r>
              <a:rPr lang="en-US" dirty="0"/>
              <a:t>🔸 </a:t>
            </a:r>
            <a:r>
              <a:rPr lang="vi-VN" b="1" dirty="0"/>
              <a:t>Tầng </a:t>
            </a:r>
            <a:r>
              <a:rPr lang="vi-VN" b="1" dirty="0" err="1"/>
              <a:t>Serving</a:t>
            </a:r>
            <a:r>
              <a:rPr lang="vi-VN" b="1" dirty="0"/>
              <a:t>:</a:t>
            </a:r>
            <a:r>
              <a:rPr lang="vi-VN" dirty="0"/>
              <a:t> lưu trữ, phân tích và trực quan hóa thông tin bằng </a:t>
            </a:r>
            <a:r>
              <a:rPr lang="vi-VN" dirty="0" err="1"/>
              <a:t>Druid</a:t>
            </a:r>
            <a:r>
              <a:rPr lang="vi-VN" dirty="0"/>
              <a:t>, </a:t>
            </a:r>
            <a:r>
              <a:rPr lang="vi-VN" dirty="0" err="1"/>
              <a:t>Redis</a:t>
            </a:r>
            <a:r>
              <a:rPr lang="vi-VN" dirty="0"/>
              <a:t>, và </a:t>
            </a:r>
            <a:r>
              <a:rPr lang="vi-VN" dirty="0" err="1"/>
              <a:t>Superset</a:t>
            </a:r>
            <a:r>
              <a:rPr lang="vi-VN" dirty="0"/>
              <a:t>.</a:t>
            </a:r>
          </a:p>
          <a:p>
            <a:r>
              <a:rPr lang="vi-VN" dirty="0"/>
              <a:t>Mục tiêu là đảm bảo </a:t>
            </a:r>
            <a:r>
              <a:rPr lang="vi-VN" b="1" dirty="0"/>
              <a:t>hệ thống phản hồi nhanh, dễ mở rộng và duy trì độ chính xác cao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Đồng thời, nhóm tích hợp thêm </a:t>
            </a:r>
            <a:r>
              <a:rPr lang="vi-VN" b="1" dirty="0"/>
              <a:t>mô hình học máy đơn giản</a:t>
            </a:r>
            <a:r>
              <a:rPr lang="vi-VN" dirty="0"/>
              <a:t> và </a:t>
            </a:r>
            <a:r>
              <a:rPr lang="vi-VN" b="1" dirty="0"/>
              <a:t>API </a:t>
            </a:r>
            <a:r>
              <a:rPr lang="vi-VN" b="1" dirty="0" err="1"/>
              <a:t>FastAPI</a:t>
            </a:r>
            <a:r>
              <a:rPr lang="vi-VN" dirty="0"/>
              <a:t> để phục vụ kết quả phân tích và gợi ý nhạc.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vi-VN" b="1" dirty="0"/>
              <a:t>Tổng quan mô hình (</a:t>
            </a:r>
            <a:r>
              <a:rPr lang="vi-VN" b="1" dirty="0" err="1"/>
              <a:t>Lambda</a:t>
            </a:r>
            <a:r>
              <a:rPr lang="vi-VN" b="1" dirty="0"/>
              <a:t> </a:t>
            </a:r>
            <a:r>
              <a:rPr lang="vi-VN" b="1" dirty="0" err="1"/>
              <a:t>Architecture</a:t>
            </a:r>
            <a:r>
              <a:rPr lang="vi-VN" b="1" dirty="0"/>
              <a:t>)</a:t>
            </a:r>
          </a:p>
          <a:p>
            <a:r>
              <a:rPr lang="vi-VN" b="1" dirty="0"/>
              <a:t>Mục tiêu:</a:t>
            </a:r>
            <a:r>
              <a:rPr lang="vi-VN" dirty="0"/>
              <a:t> vừa xử lý </a:t>
            </a:r>
            <a:r>
              <a:rPr lang="vi-VN" b="1" dirty="0" err="1"/>
              <a:t>real-time</a:t>
            </a:r>
            <a:r>
              <a:rPr lang="vi-VN" dirty="0"/>
              <a:t> (sự kiện nghe nhạc) vừa tổng hợp </a:t>
            </a:r>
            <a:r>
              <a:rPr lang="vi-VN" b="1" dirty="0"/>
              <a:t>lịch sử</a:t>
            </a:r>
            <a:r>
              <a:rPr lang="vi-VN" dirty="0"/>
              <a:t> (</a:t>
            </a:r>
            <a:r>
              <a:rPr lang="vi-VN" dirty="0" err="1"/>
              <a:t>metadata</a:t>
            </a:r>
            <a:r>
              <a:rPr lang="vi-VN" dirty="0"/>
              <a:t>, </a:t>
            </a:r>
            <a:r>
              <a:rPr lang="vi-VN" dirty="0" err="1"/>
              <a:t>audio</a:t>
            </a:r>
            <a:r>
              <a:rPr lang="vi-VN" dirty="0"/>
              <a:t> </a:t>
            </a:r>
            <a:r>
              <a:rPr lang="vi-VN" dirty="0" err="1"/>
              <a:t>features</a:t>
            </a:r>
            <a:r>
              <a:rPr lang="vi-VN" dirty="0"/>
              <a:t>) → phục vụ truy vấn nhanh &amp; phân tích chuyên sâu.</a:t>
            </a:r>
          </a:p>
          <a:p>
            <a:r>
              <a:rPr lang="vi-VN" b="1" dirty="0"/>
              <a:t>3 tầng chính:</a:t>
            </a:r>
            <a:endParaRPr lang="vi-VN" dirty="0"/>
          </a:p>
          <a:p>
            <a:pPr lvl="1"/>
            <a:r>
              <a:rPr lang="vi-VN" b="1" dirty="0" err="1"/>
              <a:t>Ingestion</a:t>
            </a:r>
            <a:r>
              <a:rPr lang="vi-VN" dirty="0"/>
              <a:t> – nạp dữ liệu từ </a:t>
            </a:r>
            <a:r>
              <a:rPr lang="vi-VN" dirty="0" err="1"/>
              <a:t>Spotify</a:t>
            </a:r>
            <a:r>
              <a:rPr lang="vi-VN" dirty="0"/>
              <a:t> API (</a:t>
            </a:r>
            <a:r>
              <a:rPr lang="vi-VN" dirty="0" err="1"/>
              <a:t>stream</a:t>
            </a:r>
            <a:r>
              <a:rPr lang="vi-VN" dirty="0"/>
              <a:t> + </a:t>
            </a:r>
            <a:r>
              <a:rPr lang="vi-VN" dirty="0" err="1"/>
              <a:t>batch</a:t>
            </a:r>
            <a:r>
              <a:rPr lang="vi-VN" dirty="0"/>
              <a:t>)</a:t>
            </a:r>
          </a:p>
          <a:p>
            <a:pPr lvl="1"/>
            <a:r>
              <a:rPr lang="vi-VN" b="1" dirty="0" err="1"/>
              <a:t>Processing</a:t>
            </a:r>
            <a:r>
              <a:rPr lang="vi-VN" dirty="0"/>
              <a:t> – xử lý song </a:t>
            </a:r>
            <a:r>
              <a:rPr lang="vi-VN" dirty="0" err="1"/>
              <a:t>song</a:t>
            </a:r>
            <a:r>
              <a:rPr lang="vi-VN" dirty="0"/>
              <a:t>: </a:t>
            </a:r>
            <a:r>
              <a:rPr lang="vi-VN" dirty="0" err="1"/>
              <a:t>Stream</a:t>
            </a:r>
            <a:r>
              <a:rPr lang="vi-VN" dirty="0"/>
              <a:t> (</a:t>
            </a:r>
            <a:r>
              <a:rPr lang="vi-VN" dirty="0" err="1"/>
              <a:t>hot</a:t>
            </a:r>
            <a:r>
              <a:rPr lang="vi-VN" dirty="0"/>
              <a:t> </a:t>
            </a:r>
            <a:r>
              <a:rPr lang="vi-VN" dirty="0" err="1"/>
              <a:t>path</a:t>
            </a:r>
            <a:r>
              <a:rPr lang="vi-VN" dirty="0"/>
              <a:t>) &amp; </a:t>
            </a:r>
            <a:r>
              <a:rPr lang="vi-VN" dirty="0" err="1"/>
              <a:t>Batch</a:t>
            </a:r>
            <a:r>
              <a:rPr lang="vi-VN" dirty="0"/>
              <a:t> (</a:t>
            </a:r>
            <a:r>
              <a:rPr lang="vi-VN" dirty="0" err="1"/>
              <a:t>cold</a:t>
            </a:r>
            <a:r>
              <a:rPr lang="vi-VN" dirty="0"/>
              <a:t> </a:t>
            </a:r>
            <a:r>
              <a:rPr lang="vi-VN" dirty="0" err="1"/>
              <a:t>path</a:t>
            </a:r>
            <a:r>
              <a:rPr lang="vi-VN" dirty="0"/>
              <a:t>)</a:t>
            </a:r>
          </a:p>
          <a:p>
            <a:pPr lvl="1"/>
            <a:r>
              <a:rPr lang="vi-VN" b="1" dirty="0" err="1"/>
              <a:t>Serving</a:t>
            </a:r>
            <a:r>
              <a:rPr lang="vi-VN" dirty="0"/>
              <a:t> – lưu kết quả, cung cấp API/BI, </a:t>
            </a:r>
            <a:r>
              <a:rPr lang="vi-VN" dirty="0" err="1"/>
              <a:t>dashboard</a:t>
            </a:r>
            <a:endParaRPr lang="vi-VN" dirty="0"/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1) </a:t>
            </a:r>
            <a:r>
              <a:rPr lang="vi-VN" b="1" dirty="0" err="1"/>
              <a:t>Ingestion</a:t>
            </a:r>
            <a:r>
              <a:rPr lang="vi-VN" b="1" dirty="0"/>
              <a:t> (Thu thập dữ liệu)</a:t>
            </a:r>
          </a:p>
          <a:p>
            <a:r>
              <a:rPr lang="vi-VN" b="1" dirty="0"/>
              <a:t>Nguồn dữ liệu</a:t>
            </a:r>
            <a:endParaRPr lang="vi-VN" dirty="0"/>
          </a:p>
          <a:p>
            <a:pPr lvl="1"/>
            <a:r>
              <a:rPr lang="vi-VN" i="1" dirty="0" err="1"/>
              <a:t>Streaming</a:t>
            </a:r>
            <a:r>
              <a:rPr lang="vi-VN" i="1" dirty="0"/>
              <a:t>:</a:t>
            </a:r>
            <a:r>
              <a:rPr lang="vi-VN" dirty="0"/>
              <a:t> sự kiện </a:t>
            </a:r>
            <a:r>
              <a:rPr lang="vi-VN" b="1" dirty="0" err="1"/>
              <a:t>play</a:t>
            </a:r>
            <a:r>
              <a:rPr lang="vi-VN" b="1" dirty="0"/>
              <a:t> / </a:t>
            </a:r>
            <a:r>
              <a:rPr lang="vi-VN" b="1" dirty="0" err="1"/>
              <a:t>like</a:t>
            </a:r>
            <a:r>
              <a:rPr lang="vi-VN" b="1" dirty="0"/>
              <a:t> / </a:t>
            </a:r>
            <a:r>
              <a:rPr lang="vi-VN" b="1" dirty="0" err="1"/>
              <a:t>skip</a:t>
            </a:r>
            <a:r>
              <a:rPr lang="vi-VN" b="1" dirty="0"/>
              <a:t> / </a:t>
            </a:r>
            <a:r>
              <a:rPr lang="vi-VN" b="1" dirty="0" err="1"/>
              <a:t>add</a:t>
            </a:r>
            <a:r>
              <a:rPr lang="vi-VN" b="1" dirty="0"/>
              <a:t>-to-</a:t>
            </a:r>
            <a:r>
              <a:rPr lang="vi-VN" b="1" dirty="0" err="1"/>
              <a:t>playlist</a:t>
            </a:r>
            <a:r>
              <a:rPr lang="vi-VN" dirty="0"/>
              <a:t> (mô phỏng/nhật ký).</a:t>
            </a:r>
          </a:p>
          <a:p>
            <a:pPr lvl="1"/>
            <a:r>
              <a:rPr lang="vi-VN" i="1" dirty="0" err="1"/>
              <a:t>Batch</a:t>
            </a:r>
            <a:r>
              <a:rPr lang="vi-VN" i="1" dirty="0"/>
              <a:t>:</a:t>
            </a:r>
            <a:r>
              <a:rPr lang="vi-VN" dirty="0"/>
              <a:t>* </a:t>
            </a:r>
            <a:r>
              <a:rPr lang="vi-VN" b="1" dirty="0" err="1"/>
              <a:t>Tracks</a:t>
            </a:r>
            <a:r>
              <a:rPr lang="vi-VN" b="1" dirty="0"/>
              <a:t>, </a:t>
            </a:r>
            <a:r>
              <a:rPr lang="vi-VN" b="1" dirty="0" err="1"/>
              <a:t>Artists</a:t>
            </a:r>
            <a:r>
              <a:rPr lang="vi-VN" b="1" dirty="0"/>
              <a:t>, </a:t>
            </a:r>
            <a:r>
              <a:rPr lang="vi-VN" b="1" dirty="0" err="1"/>
              <a:t>Albums</a:t>
            </a:r>
            <a:r>
              <a:rPr lang="vi-VN" b="1" dirty="0"/>
              <a:t>, </a:t>
            </a:r>
            <a:r>
              <a:rPr lang="vi-VN" b="1" dirty="0" err="1"/>
              <a:t>Audio</a:t>
            </a:r>
            <a:r>
              <a:rPr lang="vi-VN" b="1" dirty="0"/>
              <a:t> </a:t>
            </a:r>
            <a:r>
              <a:rPr lang="vi-VN" b="1" dirty="0" err="1"/>
              <a:t>Features</a:t>
            </a:r>
            <a:r>
              <a:rPr lang="vi-VN" dirty="0"/>
              <a:t> từ API (định kỳ).</a:t>
            </a:r>
          </a:p>
          <a:p>
            <a:r>
              <a:rPr lang="vi-VN" b="1" dirty="0"/>
              <a:t>Thiết kế nạp</a:t>
            </a:r>
            <a:endParaRPr lang="vi-VN" dirty="0"/>
          </a:p>
          <a:p>
            <a:pPr lvl="1"/>
            <a:r>
              <a:rPr lang="vi-VN" b="1" dirty="0" err="1"/>
              <a:t>Kafka</a:t>
            </a:r>
            <a:r>
              <a:rPr lang="vi-VN" dirty="0"/>
              <a:t> (</a:t>
            </a:r>
            <a:r>
              <a:rPr lang="vi-VN" dirty="0" err="1"/>
              <a:t>topics</a:t>
            </a:r>
            <a:r>
              <a:rPr lang="vi-VN" dirty="0"/>
              <a:t> gợi ý):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events.play</a:t>
            </a:r>
            <a:r>
              <a:rPr lang="vi-VN" dirty="0"/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events.interaction</a:t>
            </a:r>
            <a:r>
              <a:rPr lang="vi-VN" dirty="0"/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ref.tracks</a:t>
            </a:r>
            <a:r>
              <a:rPr lang="vi-VN" dirty="0"/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ref.artists</a:t>
            </a:r>
            <a:r>
              <a:rPr lang="vi-VN" dirty="0"/>
              <a:t>.</a:t>
            </a:r>
          </a:p>
          <a:p>
            <a:pPr lvl="1"/>
            <a:r>
              <a:rPr lang="vi-VN" b="1" dirty="0" err="1"/>
              <a:t>Batch</a:t>
            </a:r>
            <a:r>
              <a:rPr lang="vi-VN" b="1" dirty="0"/>
              <a:t> </a:t>
            </a:r>
            <a:r>
              <a:rPr lang="vi-VN" b="1" dirty="0" err="1"/>
              <a:t>landing</a:t>
            </a:r>
            <a:r>
              <a:rPr lang="vi-VN" dirty="0"/>
              <a:t>: đổ </a:t>
            </a:r>
            <a:r>
              <a:rPr lang="vi-VN" dirty="0" err="1"/>
              <a:t>file</a:t>
            </a:r>
            <a:r>
              <a:rPr lang="vi-VN" dirty="0"/>
              <a:t> </a:t>
            </a:r>
            <a:r>
              <a:rPr lang="vi-VN" b="1" dirty="0" err="1"/>
              <a:t>Parquet</a:t>
            </a:r>
            <a:r>
              <a:rPr lang="vi-VN" dirty="0"/>
              <a:t> vào </a:t>
            </a:r>
            <a:r>
              <a:rPr lang="vi-VN" b="1" dirty="0"/>
              <a:t>S3/HDFS</a:t>
            </a:r>
            <a:r>
              <a:rPr lang="vi-VN" dirty="0"/>
              <a:t> (tổ chức theo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dt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=YYYY-MM-DD</a:t>
            </a:r>
            <a:r>
              <a:rPr lang="vi-VN" dirty="0"/>
              <a:t>).</a:t>
            </a:r>
          </a:p>
          <a:p>
            <a:r>
              <a:rPr lang="vi-VN" b="1" dirty="0"/>
              <a:t>Quy ước </a:t>
            </a:r>
            <a:r>
              <a:rPr lang="vi-VN" b="1" dirty="0" err="1"/>
              <a:t>schema</a:t>
            </a:r>
            <a:r>
              <a:rPr lang="vi-VN" b="1" dirty="0"/>
              <a:t> cơ bản</a:t>
            </a:r>
            <a:endParaRPr lang="vi-VN" dirty="0"/>
          </a:p>
          <a:p>
            <a:pPr lvl="1"/>
            <a:r>
              <a:rPr lang="vi-VN" i="1" dirty="0" err="1"/>
              <a:t>events.play</a:t>
            </a:r>
            <a:r>
              <a:rPr lang="vi-VN" i="1" dirty="0"/>
              <a:t>:</a:t>
            </a:r>
            <a:r>
              <a:rPr lang="vi-VN" dirty="0"/>
              <a:t>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event_time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user_id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track_id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</a:t>
            </a:r>
            <a:endParaRPr lang="vi-VN" dirty="0"/>
          </a:p>
          <a:p>
            <a:pPr lvl="1"/>
            <a:r>
              <a:rPr lang="vi-VN" i="1" dirty="0" err="1"/>
              <a:t>tracks</a:t>
            </a:r>
            <a:r>
              <a:rPr lang="vi-VN" i="1" dirty="0"/>
              <a:t>:</a:t>
            </a:r>
            <a:r>
              <a:rPr lang="vi-VN" dirty="0"/>
              <a:t>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track_id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artist_id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album_id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duration_ms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popularity</a:t>
            </a:r>
            <a:endParaRPr lang="vi-VN" dirty="0"/>
          </a:p>
          <a:p>
            <a:pPr lvl="1"/>
            <a:r>
              <a:rPr lang="vi-VN" i="1" dirty="0" err="1"/>
              <a:t>audio_features</a:t>
            </a:r>
            <a:r>
              <a:rPr lang="vi-VN" i="1" dirty="0"/>
              <a:t>:</a:t>
            </a:r>
            <a:r>
              <a:rPr lang="vi-VN" dirty="0"/>
              <a:t>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track_id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tempo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energy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danceability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valence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…</a:t>
            </a:r>
            <a:endParaRPr lang="vi-VN" dirty="0"/>
          </a:p>
          <a:p>
            <a:r>
              <a:rPr lang="vi-VN" b="1" dirty="0"/>
              <a:t>Chất lượng dữ liệu</a:t>
            </a:r>
            <a:endParaRPr lang="vi-VN" dirty="0"/>
          </a:p>
          <a:p>
            <a:pPr lvl="1"/>
            <a:r>
              <a:rPr lang="vi-VN" dirty="0"/>
              <a:t>Ràng buộc </a:t>
            </a:r>
            <a:r>
              <a:rPr lang="vi-VN" b="1" dirty="0"/>
              <a:t>khóa chính</a:t>
            </a:r>
            <a:r>
              <a:rPr lang="vi-VN" dirty="0"/>
              <a:t> (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track_id</a:t>
            </a:r>
            <a:r>
              <a:rPr lang="vi-VN" dirty="0"/>
              <a:t>), </a:t>
            </a:r>
            <a:r>
              <a:rPr lang="vi-VN" b="1" dirty="0" err="1"/>
              <a:t>timestamp</a:t>
            </a:r>
            <a:r>
              <a:rPr lang="vi-VN" b="1" dirty="0"/>
              <a:t> chuẩn UTC</a:t>
            </a:r>
            <a:r>
              <a:rPr lang="vi-VN" dirty="0"/>
              <a:t>, loại bỏ </a:t>
            </a:r>
            <a:r>
              <a:rPr lang="vi-VN" dirty="0" err="1"/>
              <a:t>null</a:t>
            </a:r>
            <a:r>
              <a:rPr lang="vi-VN" dirty="0"/>
              <a:t>, </a:t>
            </a:r>
            <a:r>
              <a:rPr lang="vi-VN" b="1" dirty="0" err="1"/>
              <a:t>idempotent</a:t>
            </a:r>
            <a:r>
              <a:rPr lang="vi-VN" dirty="0"/>
              <a:t> </a:t>
            </a:r>
            <a:r>
              <a:rPr lang="vi-VN" dirty="0" err="1"/>
              <a:t>producer</a:t>
            </a:r>
            <a:r>
              <a:rPr lang="vi-VN" dirty="0"/>
              <a:t>.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2) </a:t>
            </a:r>
            <a:r>
              <a:rPr lang="vi-VN" b="1" dirty="0" err="1"/>
              <a:t>Processing</a:t>
            </a:r>
            <a:r>
              <a:rPr lang="vi-VN" b="1" dirty="0"/>
              <a:t> (Xử lý dữ liệu)</a:t>
            </a:r>
          </a:p>
          <a:p>
            <a:r>
              <a:rPr lang="vi-VN" b="1" dirty="0"/>
              <a:t>(a) </a:t>
            </a:r>
            <a:r>
              <a:rPr lang="vi-VN" b="1" dirty="0" err="1"/>
              <a:t>Stream</a:t>
            </a:r>
            <a:r>
              <a:rPr lang="vi-VN" b="1" dirty="0"/>
              <a:t> </a:t>
            </a:r>
            <a:r>
              <a:rPr lang="vi-VN" b="1" dirty="0" err="1"/>
              <a:t>path</a:t>
            </a:r>
            <a:r>
              <a:rPr lang="vi-VN" b="1" dirty="0"/>
              <a:t> – </a:t>
            </a:r>
            <a:r>
              <a:rPr lang="vi-VN" b="1" i="1" dirty="0" err="1"/>
              <a:t>Speed</a:t>
            </a:r>
            <a:r>
              <a:rPr lang="vi-VN" b="1" i="1" dirty="0"/>
              <a:t> </a:t>
            </a:r>
            <a:r>
              <a:rPr lang="vi-VN" b="1" i="1" dirty="0" err="1"/>
              <a:t>layer</a:t>
            </a:r>
            <a:endParaRPr lang="vi-VN" b="1" dirty="0"/>
          </a:p>
          <a:p>
            <a:r>
              <a:rPr lang="vi-VN" b="1" dirty="0"/>
              <a:t>Công cụ:</a:t>
            </a:r>
            <a:r>
              <a:rPr lang="vi-VN" dirty="0"/>
              <a:t> </a:t>
            </a:r>
            <a:r>
              <a:rPr lang="vi-VN" b="1" dirty="0" err="1"/>
              <a:t>Spark</a:t>
            </a:r>
            <a:r>
              <a:rPr lang="vi-VN" b="1" dirty="0"/>
              <a:t> </a:t>
            </a:r>
            <a:r>
              <a:rPr lang="vi-VN" b="1" dirty="0" err="1"/>
              <a:t>Structured</a:t>
            </a:r>
            <a:r>
              <a:rPr lang="vi-VN" b="1" dirty="0"/>
              <a:t> </a:t>
            </a:r>
            <a:r>
              <a:rPr lang="vi-VN" b="1" dirty="0" err="1"/>
              <a:t>Streaming</a:t>
            </a:r>
            <a:r>
              <a:rPr lang="vi-VN" dirty="0"/>
              <a:t> (</a:t>
            </a:r>
            <a:r>
              <a:rPr lang="vi-VN" i="1" dirty="0"/>
              <a:t>hoặc</a:t>
            </a:r>
            <a:r>
              <a:rPr lang="vi-VN" dirty="0"/>
              <a:t> </a:t>
            </a:r>
            <a:r>
              <a:rPr lang="vi-VN" dirty="0" err="1"/>
              <a:t>Flink</a:t>
            </a:r>
            <a:r>
              <a:rPr lang="vi-VN" dirty="0"/>
              <a:t>).</a:t>
            </a:r>
          </a:p>
          <a:p>
            <a:r>
              <a:rPr lang="vi-VN" b="1" dirty="0"/>
              <a:t>Thiết lập cốt lõi:</a:t>
            </a:r>
            <a:endParaRPr lang="vi-VN" dirty="0"/>
          </a:p>
          <a:p>
            <a:pPr lvl="1"/>
            <a:r>
              <a:rPr lang="vi-VN" dirty="0" err="1"/>
              <a:t>Micro-batch</a:t>
            </a:r>
            <a:r>
              <a:rPr lang="vi-VN" dirty="0"/>
              <a:t> </a:t>
            </a:r>
            <a:r>
              <a:rPr lang="vi-VN" b="1" dirty="0"/>
              <a:t>1–5s</a:t>
            </a:r>
            <a:r>
              <a:rPr lang="vi-VN" dirty="0"/>
              <a:t>, </a:t>
            </a:r>
            <a:r>
              <a:rPr lang="vi-VN" b="1" dirty="0" err="1"/>
              <a:t>watermark</a:t>
            </a:r>
            <a:r>
              <a:rPr lang="vi-VN" dirty="0"/>
              <a:t> 2–5 phút, </a:t>
            </a:r>
            <a:r>
              <a:rPr lang="vi-VN" b="1" dirty="0" err="1"/>
              <a:t>checkpoint</a:t>
            </a:r>
            <a:r>
              <a:rPr lang="vi-VN" dirty="0"/>
              <a:t> trên HDFS/S3.</a:t>
            </a:r>
          </a:p>
          <a:p>
            <a:pPr lvl="1"/>
            <a:r>
              <a:rPr lang="vi-VN" b="1" dirty="0" err="1"/>
              <a:t>Exactly-once</a:t>
            </a:r>
            <a:r>
              <a:rPr lang="vi-VN" dirty="0"/>
              <a:t> </a:t>
            </a:r>
            <a:r>
              <a:rPr lang="vi-VN" dirty="0" err="1"/>
              <a:t>sink</a:t>
            </a:r>
            <a:r>
              <a:rPr lang="vi-VN" dirty="0"/>
              <a:t> khi khả dụng (</a:t>
            </a:r>
            <a:r>
              <a:rPr lang="vi-VN" dirty="0" err="1"/>
              <a:t>Delta</a:t>
            </a:r>
            <a:r>
              <a:rPr lang="vi-VN" dirty="0"/>
              <a:t>, </a:t>
            </a:r>
            <a:r>
              <a:rPr lang="vi-VN" dirty="0" err="1"/>
              <a:t>Kafka</a:t>
            </a:r>
            <a:r>
              <a:rPr lang="vi-VN" dirty="0"/>
              <a:t> </a:t>
            </a:r>
            <a:r>
              <a:rPr lang="vi-VN" dirty="0" err="1"/>
              <a:t>transactional</a:t>
            </a:r>
            <a:r>
              <a:rPr lang="vi-VN" dirty="0"/>
              <a:t>).</a:t>
            </a:r>
          </a:p>
          <a:p>
            <a:r>
              <a:rPr lang="vi-VN" b="1" dirty="0"/>
              <a:t>Biến đổi chính:</a:t>
            </a:r>
            <a:endParaRPr lang="vi-VN" dirty="0"/>
          </a:p>
          <a:p>
            <a:pPr lvl="1"/>
            <a:r>
              <a:rPr lang="vi-VN" dirty="0"/>
              <a:t>Chuẩn hóa sự kiện, </a:t>
            </a:r>
            <a:r>
              <a:rPr lang="vi-VN" dirty="0" err="1"/>
              <a:t>join</a:t>
            </a:r>
            <a:r>
              <a:rPr lang="vi-VN" dirty="0"/>
              <a:t> </a:t>
            </a:r>
            <a:r>
              <a:rPr lang="vi-VN" b="1" dirty="0" err="1"/>
              <a:t>events</a:t>
            </a:r>
            <a:r>
              <a:rPr lang="vi-VN" dirty="0"/>
              <a:t> ↔ </a:t>
            </a:r>
            <a:r>
              <a:rPr lang="vi-VN" b="1" dirty="0" err="1"/>
              <a:t>tracks</a:t>
            </a:r>
            <a:r>
              <a:rPr lang="vi-VN" b="1" dirty="0"/>
              <a:t>/</a:t>
            </a:r>
            <a:r>
              <a:rPr lang="vi-VN" b="1" dirty="0" err="1"/>
              <a:t>audio_features</a:t>
            </a:r>
            <a:r>
              <a:rPr lang="vi-VN" dirty="0"/>
              <a:t> (</a:t>
            </a:r>
            <a:r>
              <a:rPr lang="vi-VN" dirty="0" err="1"/>
              <a:t>broadcast</a:t>
            </a:r>
            <a:r>
              <a:rPr lang="vi-VN" dirty="0"/>
              <a:t> nhỏ).</a:t>
            </a:r>
          </a:p>
          <a:p>
            <a:pPr lvl="1"/>
            <a:r>
              <a:rPr lang="vi-VN" dirty="0"/>
              <a:t>Tạo </a:t>
            </a:r>
            <a:r>
              <a:rPr lang="vi-VN" b="1" dirty="0"/>
              <a:t>bảng tính theo cửa sổ</a:t>
            </a:r>
            <a:r>
              <a:rPr lang="vi-VN" dirty="0"/>
              <a:t> (</a:t>
            </a:r>
            <a:r>
              <a:rPr lang="vi-VN" dirty="0" err="1"/>
              <a:t>windowed</a:t>
            </a:r>
            <a:r>
              <a:rPr lang="vi-VN" dirty="0"/>
              <a:t>):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plays_5m</a:t>
            </a:r>
            <a:r>
              <a:rPr lang="vi-VN" dirty="0"/>
              <a:t>,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top_tracks_1h_country</a:t>
            </a:r>
            <a:r>
              <a:rPr lang="vi-VN" dirty="0"/>
              <a:t>.</a:t>
            </a:r>
          </a:p>
          <a:p>
            <a:r>
              <a:rPr lang="vi-VN" b="1" dirty="0"/>
              <a:t>Đầu ra:</a:t>
            </a:r>
            <a:r>
              <a:rPr lang="vi-VN" dirty="0"/>
              <a:t> </a:t>
            </a:r>
            <a:r>
              <a:rPr lang="vi-VN" b="1" dirty="0" err="1"/>
              <a:t>Realtime</a:t>
            </a:r>
            <a:r>
              <a:rPr lang="vi-VN" b="1" dirty="0"/>
              <a:t> </a:t>
            </a:r>
            <a:r>
              <a:rPr lang="vi-VN" b="1" dirty="0" err="1"/>
              <a:t>views</a:t>
            </a:r>
            <a:r>
              <a:rPr lang="vi-VN" dirty="0"/>
              <a:t> (đổ vào </a:t>
            </a:r>
            <a:r>
              <a:rPr lang="vi-VN" dirty="0" err="1"/>
              <a:t>Druid</a:t>
            </a:r>
            <a:r>
              <a:rPr lang="vi-VN" dirty="0"/>
              <a:t> </a:t>
            </a:r>
            <a:r>
              <a:rPr lang="vi-VN" b="1" dirty="0"/>
              <a:t>hoặc</a:t>
            </a:r>
            <a:r>
              <a:rPr lang="vi-VN" dirty="0"/>
              <a:t> </a:t>
            </a:r>
            <a:r>
              <a:rPr lang="vi-VN" dirty="0" err="1"/>
              <a:t>Delta</a:t>
            </a:r>
            <a:r>
              <a:rPr lang="vi-VN" dirty="0"/>
              <a:t> </a:t>
            </a:r>
            <a:r>
              <a:rPr lang="vi-VN" dirty="0" err="1"/>
              <a:t>table</a:t>
            </a:r>
            <a:r>
              <a:rPr lang="vi-VN" dirty="0"/>
              <a:t> </a:t>
            </a:r>
            <a:r>
              <a:rPr lang="vi-VN" dirty="0" err="1"/>
              <a:t>partition</a:t>
            </a:r>
            <a:r>
              <a:rPr lang="vi-VN" dirty="0"/>
              <a:t> nhỏ).</a:t>
            </a:r>
          </a:p>
          <a:p>
            <a:r>
              <a:rPr lang="vi-VN" b="1" dirty="0"/>
              <a:t>(b) </a:t>
            </a:r>
            <a:r>
              <a:rPr lang="vi-VN" b="1" dirty="0" err="1"/>
              <a:t>Batch</a:t>
            </a:r>
            <a:r>
              <a:rPr lang="vi-VN" b="1" dirty="0"/>
              <a:t> </a:t>
            </a:r>
            <a:r>
              <a:rPr lang="vi-VN" b="1" dirty="0" err="1"/>
              <a:t>path</a:t>
            </a:r>
            <a:r>
              <a:rPr lang="vi-VN" b="1" dirty="0"/>
              <a:t> – </a:t>
            </a:r>
            <a:r>
              <a:rPr lang="vi-VN" b="1" i="1" dirty="0" err="1"/>
              <a:t>Batch</a:t>
            </a:r>
            <a:r>
              <a:rPr lang="vi-VN" b="1" i="1" dirty="0"/>
              <a:t> </a:t>
            </a:r>
            <a:r>
              <a:rPr lang="vi-VN" b="1" i="1" dirty="0" err="1"/>
              <a:t>layer</a:t>
            </a:r>
            <a:endParaRPr lang="vi-VN" b="1" dirty="0"/>
          </a:p>
          <a:p>
            <a:r>
              <a:rPr lang="vi-VN" b="1" dirty="0"/>
              <a:t>Công cụ:</a:t>
            </a:r>
            <a:r>
              <a:rPr lang="vi-VN" dirty="0"/>
              <a:t> </a:t>
            </a:r>
            <a:r>
              <a:rPr lang="vi-VN" b="1" dirty="0" err="1"/>
              <a:t>Spark</a:t>
            </a:r>
            <a:r>
              <a:rPr lang="vi-VN" b="1" dirty="0"/>
              <a:t> SQL / </a:t>
            </a:r>
            <a:r>
              <a:rPr lang="vi-VN" b="1" dirty="0" err="1"/>
              <a:t>MLlib</a:t>
            </a:r>
            <a:r>
              <a:rPr lang="vi-VN" dirty="0"/>
              <a:t> (ETL + </a:t>
            </a:r>
            <a:r>
              <a:rPr lang="vi-VN" dirty="0" err="1"/>
              <a:t>feature</a:t>
            </a:r>
            <a:r>
              <a:rPr lang="vi-VN" dirty="0"/>
              <a:t> </a:t>
            </a:r>
            <a:r>
              <a:rPr lang="vi-VN" dirty="0" err="1"/>
              <a:t>store</a:t>
            </a:r>
            <a:r>
              <a:rPr lang="vi-VN" dirty="0"/>
              <a:t> + </a:t>
            </a:r>
            <a:r>
              <a:rPr lang="vi-VN" dirty="0" err="1"/>
              <a:t>training</a:t>
            </a:r>
            <a:r>
              <a:rPr lang="vi-VN" dirty="0"/>
              <a:t>).</a:t>
            </a:r>
          </a:p>
          <a:p>
            <a:r>
              <a:rPr lang="vi-VN" b="1" dirty="0"/>
              <a:t>Chiến lược lưu &amp; tối ưu:</a:t>
            </a:r>
            <a:endParaRPr lang="vi-VN" dirty="0"/>
          </a:p>
          <a:p>
            <a:pPr lvl="1"/>
            <a:r>
              <a:rPr lang="vi-VN" b="1" dirty="0" err="1"/>
              <a:t>Parquet</a:t>
            </a:r>
            <a:r>
              <a:rPr lang="vi-VN" dirty="0"/>
              <a:t> + </a:t>
            </a:r>
            <a:r>
              <a:rPr lang="vi-VN" b="1" dirty="0" err="1"/>
              <a:t>partition</a:t>
            </a:r>
            <a:r>
              <a:rPr lang="vi-VN" dirty="0"/>
              <a:t> theo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dt</a:t>
            </a:r>
            <a:r>
              <a:rPr lang="vi-VN" dirty="0"/>
              <a:t> /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</a:t>
            </a:r>
            <a:r>
              <a:rPr lang="vi-VN" dirty="0"/>
              <a:t>, </a:t>
            </a:r>
            <a:r>
              <a:rPr lang="vi-VN" b="1" dirty="0"/>
              <a:t>Z-</a:t>
            </a:r>
            <a:r>
              <a:rPr lang="vi-VN" b="1" dirty="0" err="1"/>
              <a:t>order</a:t>
            </a:r>
            <a:r>
              <a:rPr lang="vi-VN" dirty="0"/>
              <a:t> theo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track_id</a:t>
            </a:r>
            <a:r>
              <a:rPr lang="vi-VN" dirty="0"/>
              <a:t> (nếu </a:t>
            </a:r>
            <a:r>
              <a:rPr lang="vi-VN" dirty="0" err="1"/>
              <a:t>Delta</a:t>
            </a:r>
            <a:r>
              <a:rPr lang="vi-VN" dirty="0"/>
              <a:t>).</a:t>
            </a:r>
          </a:p>
          <a:p>
            <a:pPr lvl="1"/>
            <a:r>
              <a:rPr lang="vi-VN" b="1" dirty="0" err="1"/>
              <a:t>Apache</a:t>
            </a:r>
            <a:r>
              <a:rPr lang="vi-VN" b="1" dirty="0"/>
              <a:t> </a:t>
            </a:r>
            <a:r>
              <a:rPr lang="vi-VN" b="1" dirty="0" err="1"/>
              <a:t>Iceberg</a:t>
            </a:r>
            <a:r>
              <a:rPr lang="vi-VN" b="1" dirty="0"/>
              <a:t>/</a:t>
            </a:r>
            <a:r>
              <a:rPr lang="vi-VN" b="1" dirty="0" err="1"/>
              <a:t>Delta</a:t>
            </a:r>
            <a:r>
              <a:rPr lang="vi-VN" dirty="0"/>
              <a:t> để </a:t>
            </a:r>
            <a:r>
              <a:rPr lang="vi-VN" b="1" dirty="0" err="1"/>
              <a:t>versioning</a:t>
            </a:r>
            <a:r>
              <a:rPr lang="vi-VN" dirty="0"/>
              <a:t> &amp; </a:t>
            </a:r>
            <a:r>
              <a:rPr lang="vi-VN" b="1" dirty="0" err="1"/>
              <a:t>time-travel</a:t>
            </a:r>
            <a:r>
              <a:rPr lang="vi-VN" dirty="0"/>
              <a:t>.</a:t>
            </a:r>
          </a:p>
          <a:p>
            <a:r>
              <a:rPr lang="vi-VN" b="1" dirty="0"/>
              <a:t>Nhiệm vụ chính:</a:t>
            </a:r>
            <a:endParaRPr lang="vi-VN" dirty="0"/>
          </a:p>
          <a:p>
            <a:pPr lvl="1"/>
            <a:r>
              <a:rPr lang="vi-VN" dirty="0"/>
              <a:t>Làm sạch &amp; tổng hợp lịch sử (ngày/tuần/tháng).</a:t>
            </a:r>
          </a:p>
          <a:p>
            <a:pPr lvl="1"/>
            <a:r>
              <a:rPr lang="vi-VN" dirty="0"/>
              <a:t>Xây </a:t>
            </a:r>
            <a:r>
              <a:rPr lang="vi-VN" b="1" dirty="0" err="1"/>
              <a:t>features</a:t>
            </a:r>
            <a:r>
              <a:rPr lang="vi-VN" dirty="0"/>
              <a:t> cho </a:t>
            </a:r>
            <a:r>
              <a:rPr lang="vi-VN" dirty="0" err="1"/>
              <a:t>model</a:t>
            </a:r>
            <a:r>
              <a:rPr lang="vi-VN" dirty="0"/>
              <a:t>: </a:t>
            </a:r>
            <a:r>
              <a:rPr lang="vi-V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user_recent_plays</a:t>
            </a:r>
            <a:r>
              <a:rPr lang="vi-VN" dirty="0"/>
              <a:t>,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track_popularity_7d</a:t>
            </a:r>
            <a:r>
              <a:rPr lang="vi-VN" dirty="0"/>
              <a:t>, </a:t>
            </a:r>
            <a:r>
              <a:rPr lang="vi-VN" dirty="0" err="1"/>
              <a:t>embedding</a:t>
            </a:r>
            <a:r>
              <a:rPr lang="vi-VN" dirty="0"/>
              <a:t> đơn giản.</a:t>
            </a:r>
          </a:p>
          <a:p>
            <a:pPr lvl="1"/>
            <a:r>
              <a:rPr lang="vi-VN" dirty="0"/>
              <a:t>Lưu </a:t>
            </a:r>
            <a:r>
              <a:rPr lang="vi-VN" b="1" dirty="0" err="1"/>
              <a:t>feature</a:t>
            </a:r>
            <a:r>
              <a:rPr lang="vi-VN" b="1" dirty="0"/>
              <a:t> </a:t>
            </a:r>
            <a:r>
              <a:rPr lang="vi-VN" b="1" dirty="0" err="1"/>
              <a:t>tables</a:t>
            </a:r>
            <a:r>
              <a:rPr lang="vi-VN" dirty="0"/>
              <a:t> và </a:t>
            </a:r>
            <a:r>
              <a:rPr lang="vi-VN" b="1" dirty="0" err="1"/>
              <a:t>training</a:t>
            </a:r>
            <a:r>
              <a:rPr lang="vi-VN" b="1" dirty="0"/>
              <a:t> </a:t>
            </a:r>
            <a:r>
              <a:rPr lang="vi-VN" b="1" dirty="0" err="1"/>
              <a:t>sets</a:t>
            </a:r>
            <a:r>
              <a:rPr lang="vi-VN" dirty="0"/>
              <a:t>.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3) </a:t>
            </a:r>
            <a:r>
              <a:rPr lang="vi-VN" b="1" dirty="0" err="1"/>
              <a:t>Serving</a:t>
            </a:r>
            <a:r>
              <a:rPr lang="vi-VN" b="1" dirty="0"/>
              <a:t> (Phục vụ truy vấn &amp; API)</a:t>
            </a:r>
          </a:p>
          <a:p>
            <a:r>
              <a:rPr lang="vi-VN" b="1" dirty="0" err="1"/>
              <a:t>Realtime</a:t>
            </a:r>
            <a:r>
              <a:rPr lang="vi-VN" b="1" dirty="0"/>
              <a:t> </a:t>
            </a:r>
            <a:r>
              <a:rPr lang="vi-VN" b="1" dirty="0" err="1"/>
              <a:t>view</a:t>
            </a:r>
            <a:r>
              <a:rPr lang="vi-VN" b="1" dirty="0"/>
              <a:t>:</a:t>
            </a:r>
            <a:r>
              <a:rPr lang="vi-VN" dirty="0"/>
              <a:t> </a:t>
            </a:r>
            <a:r>
              <a:rPr lang="vi-VN" b="1" dirty="0" err="1"/>
              <a:t>Druid</a:t>
            </a:r>
            <a:r>
              <a:rPr lang="vi-VN" dirty="0"/>
              <a:t> </a:t>
            </a:r>
            <a:r>
              <a:rPr lang="vi-VN" i="1" dirty="0"/>
              <a:t>hoặc</a:t>
            </a:r>
            <a:r>
              <a:rPr lang="vi-VN" dirty="0"/>
              <a:t> </a:t>
            </a:r>
            <a:r>
              <a:rPr lang="vi-VN" b="1" dirty="0" err="1"/>
              <a:t>Redis</a:t>
            </a:r>
            <a:r>
              <a:rPr lang="vi-VN" b="1" dirty="0"/>
              <a:t> </a:t>
            </a:r>
            <a:r>
              <a:rPr lang="vi-VN" b="1" dirty="0" err="1"/>
              <a:t>Cache</a:t>
            </a:r>
            <a:endParaRPr lang="vi-VN" dirty="0"/>
          </a:p>
          <a:p>
            <a:pPr lvl="1"/>
            <a:r>
              <a:rPr lang="vi-VN" dirty="0"/>
              <a:t>Truy vấn </a:t>
            </a:r>
            <a:r>
              <a:rPr lang="vi-VN" b="1" dirty="0"/>
              <a:t>OLAP thời gian thực</a:t>
            </a:r>
            <a:r>
              <a:rPr lang="vi-VN" dirty="0"/>
              <a:t> (</a:t>
            </a:r>
            <a:r>
              <a:rPr lang="vi-VN" dirty="0" err="1"/>
              <a:t>top</a:t>
            </a:r>
            <a:r>
              <a:rPr lang="vi-VN" dirty="0"/>
              <a:t> N, </a:t>
            </a:r>
            <a:r>
              <a:rPr lang="vi-VN" dirty="0" err="1"/>
              <a:t>series</a:t>
            </a:r>
            <a:r>
              <a:rPr lang="vi-VN" dirty="0"/>
              <a:t> theo quốc gia/thể loại).</a:t>
            </a:r>
          </a:p>
          <a:p>
            <a:pPr lvl="1"/>
            <a:r>
              <a:rPr lang="vi-VN" dirty="0" err="1"/>
              <a:t>Redis</a:t>
            </a:r>
            <a:r>
              <a:rPr lang="vi-VN" dirty="0"/>
              <a:t> lưu </a:t>
            </a:r>
            <a:r>
              <a:rPr lang="vi-VN" b="1" dirty="0"/>
              <a:t>kết quả nóng</a:t>
            </a:r>
            <a:r>
              <a:rPr lang="vi-VN" dirty="0"/>
              <a:t> (TTL 30–120s) cho </a:t>
            </a:r>
            <a:r>
              <a:rPr lang="vi-VN" dirty="0" err="1"/>
              <a:t>endpoint</a:t>
            </a:r>
            <a:r>
              <a:rPr lang="vi-VN" dirty="0"/>
              <a:t> phản hồi </a:t>
            </a:r>
            <a:r>
              <a:rPr lang="vi-VN" dirty="0" err="1"/>
              <a:t>ms-level</a:t>
            </a:r>
            <a:r>
              <a:rPr lang="vi-VN" dirty="0"/>
              <a:t>.</a:t>
            </a:r>
          </a:p>
          <a:p>
            <a:r>
              <a:rPr lang="vi-VN" b="1" dirty="0" err="1"/>
              <a:t>Batch</a:t>
            </a:r>
            <a:r>
              <a:rPr lang="vi-VN" b="1" dirty="0"/>
              <a:t> </a:t>
            </a:r>
            <a:r>
              <a:rPr lang="vi-VN" b="1" dirty="0" err="1"/>
              <a:t>view</a:t>
            </a:r>
            <a:r>
              <a:rPr lang="vi-VN" b="1" dirty="0"/>
              <a:t>:</a:t>
            </a:r>
            <a:r>
              <a:rPr lang="vi-VN" dirty="0"/>
              <a:t> </a:t>
            </a:r>
            <a:r>
              <a:rPr lang="vi-VN" b="1" dirty="0" err="1"/>
              <a:t>Delta</a:t>
            </a:r>
            <a:r>
              <a:rPr lang="vi-VN" b="1" dirty="0"/>
              <a:t> </a:t>
            </a:r>
            <a:r>
              <a:rPr lang="vi-VN" b="1" dirty="0" err="1"/>
              <a:t>Table</a:t>
            </a:r>
            <a:r>
              <a:rPr lang="vi-VN" b="1" dirty="0"/>
              <a:t> / </a:t>
            </a:r>
            <a:r>
              <a:rPr lang="vi-VN" b="1" dirty="0" err="1"/>
              <a:t>ClickHouse</a:t>
            </a:r>
            <a:endParaRPr lang="vi-VN" dirty="0"/>
          </a:p>
          <a:p>
            <a:pPr lvl="1"/>
            <a:r>
              <a:rPr lang="vi-VN" dirty="0"/>
              <a:t>Truy vấn </a:t>
            </a:r>
            <a:r>
              <a:rPr lang="vi-VN" b="1" dirty="0"/>
              <a:t>lịch sử sâu</a:t>
            </a:r>
            <a:r>
              <a:rPr lang="vi-VN" dirty="0"/>
              <a:t>, </a:t>
            </a:r>
            <a:r>
              <a:rPr lang="vi-VN" dirty="0" err="1"/>
              <a:t>join</a:t>
            </a:r>
            <a:r>
              <a:rPr lang="vi-VN" dirty="0"/>
              <a:t> nhiều bảng, báo cáo định kỳ.</a:t>
            </a:r>
          </a:p>
          <a:p>
            <a:r>
              <a:rPr lang="vi-VN" b="1" dirty="0"/>
              <a:t>ML + API:</a:t>
            </a:r>
            <a:endParaRPr lang="vi-VN" dirty="0"/>
          </a:p>
          <a:p>
            <a:pPr lvl="1"/>
            <a:r>
              <a:rPr lang="vi-VN" b="1" dirty="0" err="1"/>
              <a:t>Model</a:t>
            </a:r>
            <a:r>
              <a:rPr lang="vi-VN" dirty="0"/>
              <a:t> (</a:t>
            </a:r>
            <a:r>
              <a:rPr lang="vi-VN" dirty="0" err="1"/>
              <a:t>MLlib</a:t>
            </a:r>
            <a:r>
              <a:rPr lang="vi-VN" dirty="0"/>
              <a:t>/</a:t>
            </a:r>
            <a:r>
              <a:rPr lang="vi-VN" dirty="0" err="1"/>
              <a:t>PyTorch</a:t>
            </a:r>
            <a:r>
              <a:rPr lang="vi-VN" dirty="0"/>
              <a:t>) → </a:t>
            </a:r>
            <a:r>
              <a:rPr lang="vi-VN" b="1" dirty="0" err="1"/>
              <a:t>FastAPI</a:t>
            </a:r>
            <a:r>
              <a:rPr lang="vi-VN" dirty="0"/>
              <a:t> (</a:t>
            </a:r>
            <a:r>
              <a:rPr lang="vi-VN" i="1" dirty="0"/>
              <a:t>/</a:t>
            </a:r>
            <a:r>
              <a:rPr lang="vi-VN" i="1" dirty="0" err="1"/>
              <a:t>recommend?user_id</a:t>
            </a:r>
            <a:r>
              <a:rPr lang="vi-VN" i="1" dirty="0"/>
              <a:t>=…</a:t>
            </a:r>
            <a:r>
              <a:rPr lang="vi-VN" dirty="0"/>
              <a:t>)</a:t>
            </a:r>
          </a:p>
          <a:p>
            <a:pPr lvl="1"/>
            <a:r>
              <a:rPr lang="vi-VN" b="1" dirty="0" err="1"/>
              <a:t>Superset</a:t>
            </a:r>
            <a:r>
              <a:rPr lang="vi-VN" b="1" dirty="0"/>
              <a:t>/</a:t>
            </a:r>
            <a:r>
              <a:rPr lang="vi-VN" b="1" dirty="0" err="1"/>
              <a:t>Grafana</a:t>
            </a:r>
            <a:r>
              <a:rPr lang="vi-VN" dirty="0"/>
              <a:t> kết nối </a:t>
            </a:r>
            <a:r>
              <a:rPr lang="vi-VN" b="1" dirty="0" err="1"/>
              <a:t>Druid</a:t>
            </a:r>
            <a:r>
              <a:rPr lang="vi-VN" b="1" dirty="0"/>
              <a:t>/</a:t>
            </a:r>
            <a:r>
              <a:rPr lang="vi-VN" b="1" dirty="0" err="1"/>
              <a:t>ClickHouse</a:t>
            </a:r>
            <a:r>
              <a:rPr lang="vi-VN" b="1" dirty="0"/>
              <a:t>/</a:t>
            </a:r>
            <a:r>
              <a:rPr lang="vi-VN" b="1" dirty="0" err="1"/>
              <a:t>Delta</a:t>
            </a:r>
            <a:r>
              <a:rPr lang="vi-VN" dirty="0"/>
              <a:t> để dựng </a:t>
            </a:r>
            <a:r>
              <a:rPr lang="vi-VN" dirty="0" err="1"/>
              <a:t>dashboard</a:t>
            </a:r>
            <a:r>
              <a:rPr lang="vi-VN" dirty="0"/>
              <a:t> (</a:t>
            </a:r>
            <a:r>
              <a:rPr lang="vi-VN" dirty="0" err="1"/>
              <a:t>Realtime</a:t>
            </a:r>
            <a:r>
              <a:rPr lang="vi-VN" dirty="0"/>
              <a:t> / </a:t>
            </a:r>
            <a:r>
              <a:rPr lang="vi-VN" dirty="0" err="1"/>
              <a:t>Hybrid</a:t>
            </a:r>
            <a:r>
              <a:rPr lang="vi-VN" dirty="0"/>
              <a:t> / </a:t>
            </a:r>
            <a:r>
              <a:rPr lang="vi-VN" dirty="0" err="1"/>
              <a:t>Analytical</a:t>
            </a:r>
            <a:r>
              <a:rPr lang="vi-VN" dirty="0"/>
              <a:t>).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Luồng dữ liệu (để bạn nói, chỉ tay theo hình)</a:t>
            </a:r>
          </a:p>
          <a:p>
            <a:r>
              <a:rPr lang="vi-VN" b="1" dirty="0"/>
              <a:t>API/</a:t>
            </a:r>
            <a:r>
              <a:rPr lang="vi-VN" b="1" dirty="0" err="1"/>
              <a:t>Logs</a:t>
            </a:r>
            <a:r>
              <a:rPr lang="vi-VN" dirty="0"/>
              <a:t> → </a:t>
            </a:r>
            <a:r>
              <a:rPr lang="vi-VN" dirty="0" err="1"/>
              <a:t>Kafka</a:t>
            </a:r>
            <a:r>
              <a:rPr lang="vi-VN" dirty="0"/>
              <a:t> (</a:t>
            </a:r>
            <a:r>
              <a:rPr lang="vi-VN" dirty="0" err="1"/>
              <a:t>stream</a:t>
            </a:r>
            <a:r>
              <a:rPr lang="vi-VN" dirty="0"/>
              <a:t>) &amp; S3/HDFS (</a:t>
            </a:r>
            <a:r>
              <a:rPr lang="vi-VN" dirty="0" err="1"/>
              <a:t>batch</a:t>
            </a:r>
            <a:r>
              <a:rPr lang="vi-VN" dirty="0"/>
              <a:t>).</a:t>
            </a:r>
          </a:p>
          <a:p>
            <a:r>
              <a:rPr lang="vi-VN" b="1" dirty="0" err="1"/>
              <a:t>Stream</a:t>
            </a:r>
            <a:r>
              <a:rPr lang="vi-VN" b="1" dirty="0"/>
              <a:t> </a:t>
            </a:r>
            <a:r>
              <a:rPr lang="vi-VN" b="1" dirty="0" err="1"/>
              <a:t>job</a:t>
            </a:r>
            <a:r>
              <a:rPr lang="vi-VN" dirty="0"/>
              <a:t> tính cửa sổ 5s–5p → đẩy </a:t>
            </a:r>
            <a:r>
              <a:rPr lang="vi-VN" b="1" dirty="0" err="1"/>
              <a:t>Realtime</a:t>
            </a:r>
            <a:r>
              <a:rPr lang="vi-VN" b="1" dirty="0"/>
              <a:t> </a:t>
            </a:r>
            <a:r>
              <a:rPr lang="vi-VN" b="1" dirty="0" err="1"/>
              <a:t>view</a:t>
            </a:r>
            <a:r>
              <a:rPr lang="vi-VN" dirty="0"/>
              <a:t> (</a:t>
            </a:r>
            <a:r>
              <a:rPr lang="vi-VN" dirty="0" err="1"/>
              <a:t>Druid</a:t>
            </a:r>
            <a:r>
              <a:rPr lang="vi-VN" dirty="0"/>
              <a:t>/</a:t>
            </a:r>
            <a:r>
              <a:rPr lang="vi-VN" dirty="0" err="1"/>
              <a:t>Redis</a:t>
            </a:r>
            <a:r>
              <a:rPr lang="vi-VN" dirty="0"/>
              <a:t>).</a:t>
            </a:r>
          </a:p>
          <a:p>
            <a:r>
              <a:rPr lang="vi-VN" b="1" dirty="0" err="1"/>
              <a:t>Batch</a:t>
            </a:r>
            <a:r>
              <a:rPr lang="vi-VN" b="1" dirty="0"/>
              <a:t> </a:t>
            </a:r>
            <a:r>
              <a:rPr lang="vi-VN" b="1" dirty="0" err="1"/>
              <a:t>job</a:t>
            </a:r>
            <a:r>
              <a:rPr lang="vi-VN" dirty="0"/>
              <a:t> ETL + tổng hợp + </a:t>
            </a:r>
            <a:r>
              <a:rPr lang="vi-VN" b="1" dirty="0" err="1"/>
              <a:t>training</a:t>
            </a:r>
            <a:r>
              <a:rPr lang="vi-VN" dirty="0"/>
              <a:t> → ghi </a:t>
            </a:r>
            <a:r>
              <a:rPr lang="vi-VN" b="1" dirty="0" err="1"/>
              <a:t>Delta</a:t>
            </a:r>
            <a:r>
              <a:rPr lang="vi-VN" b="1" dirty="0"/>
              <a:t>/</a:t>
            </a:r>
            <a:r>
              <a:rPr lang="vi-VN" b="1" dirty="0" err="1"/>
              <a:t>Iceberg</a:t>
            </a:r>
            <a:r>
              <a:rPr lang="vi-VN" dirty="0"/>
              <a:t> &amp; </a:t>
            </a:r>
            <a:r>
              <a:rPr lang="vi-VN" b="1" dirty="0" err="1"/>
              <a:t>feature</a:t>
            </a:r>
            <a:r>
              <a:rPr lang="vi-VN" b="1" dirty="0"/>
              <a:t> </a:t>
            </a:r>
            <a:r>
              <a:rPr lang="vi-VN" b="1" dirty="0" err="1"/>
              <a:t>table</a:t>
            </a:r>
            <a:r>
              <a:rPr lang="vi-VN" dirty="0"/>
              <a:t>.</a:t>
            </a:r>
          </a:p>
          <a:p>
            <a:r>
              <a:rPr lang="vi-VN" b="1" dirty="0" err="1"/>
              <a:t>Model</a:t>
            </a:r>
            <a:r>
              <a:rPr lang="vi-VN" dirty="0"/>
              <a:t> nạp </a:t>
            </a:r>
            <a:r>
              <a:rPr lang="vi-VN" dirty="0" err="1"/>
              <a:t>features</a:t>
            </a:r>
            <a:r>
              <a:rPr lang="vi-VN" dirty="0"/>
              <a:t> → </a:t>
            </a:r>
            <a:r>
              <a:rPr lang="vi-VN" b="1" dirty="0" err="1"/>
              <a:t>FastAPI</a:t>
            </a:r>
            <a:r>
              <a:rPr lang="vi-VN" dirty="0"/>
              <a:t> xuất khuyến nghị.</a:t>
            </a:r>
          </a:p>
          <a:p>
            <a:r>
              <a:rPr lang="vi-VN" b="1" dirty="0" err="1"/>
              <a:t>Superset</a:t>
            </a:r>
            <a:r>
              <a:rPr lang="vi-VN" dirty="0"/>
              <a:t> đọc </a:t>
            </a:r>
            <a:r>
              <a:rPr lang="vi-VN" b="1" dirty="0" err="1"/>
              <a:t>Druid</a:t>
            </a:r>
            <a:r>
              <a:rPr lang="vi-VN" b="1" dirty="0"/>
              <a:t>/</a:t>
            </a:r>
            <a:r>
              <a:rPr lang="vi-VN" b="1" dirty="0" err="1"/>
              <a:t>ClickHouse</a:t>
            </a:r>
            <a:r>
              <a:rPr lang="vi-VN" b="1" dirty="0"/>
              <a:t>/</a:t>
            </a:r>
            <a:r>
              <a:rPr lang="vi-VN" b="1" dirty="0" err="1"/>
              <a:t>Delta</a:t>
            </a:r>
            <a:r>
              <a:rPr lang="vi-VN" dirty="0"/>
              <a:t> → </a:t>
            </a:r>
            <a:r>
              <a:rPr lang="vi-VN" b="1" dirty="0" err="1"/>
              <a:t>Realtime</a:t>
            </a:r>
            <a:r>
              <a:rPr lang="vi-VN" b="1" dirty="0"/>
              <a:t>/</a:t>
            </a:r>
            <a:r>
              <a:rPr lang="vi-VN" b="1" dirty="0" err="1"/>
              <a:t>Hybrid</a:t>
            </a:r>
            <a:r>
              <a:rPr lang="vi-VN" b="1" dirty="0"/>
              <a:t>/</a:t>
            </a:r>
            <a:r>
              <a:rPr lang="vi-VN" b="1" dirty="0" err="1"/>
              <a:t>Analytical</a:t>
            </a:r>
            <a:r>
              <a:rPr lang="vi-VN" dirty="0"/>
              <a:t> </a:t>
            </a:r>
            <a:r>
              <a:rPr lang="vi-VN" dirty="0" err="1"/>
              <a:t>dashboards</a:t>
            </a:r>
            <a:r>
              <a:rPr lang="vi-VN" dirty="0"/>
              <a:t>.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Lý do chọn (mỗi ý nói 1 câu)</a:t>
            </a:r>
          </a:p>
          <a:p>
            <a:r>
              <a:rPr lang="vi-VN" b="1" dirty="0" err="1"/>
              <a:t>Kafka</a:t>
            </a:r>
            <a:r>
              <a:rPr lang="vi-VN" dirty="0"/>
              <a:t>: tách rời nguồn &amp; xử lý, co giãn theo </a:t>
            </a:r>
            <a:r>
              <a:rPr lang="vi-VN" dirty="0" err="1"/>
              <a:t>throughput</a:t>
            </a:r>
            <a:r>
              <a:rPr lang="vi-VN" dirty="0"/>
              <a:t>.</a:t>
            </a:r>
          </a:p>
          <a:p>
            <a:r>
              <a:rPr lang="vi-VN" b="1" dirty="0" err="1"/>
              <a:t>Spark</a:t>
            </a:r>
            <a:r>
              <a:rPr lang="vi-VN" b="1" dirty="0"/>
              <a:t>/</a:t>
            </a:r>
            <a:r>
              <a:rPr lang="vi-VN" b="1" dirty="0" err="1"/>
              <a:t>Flink</a:t>
            </a:r>
            <a:r>
              <a:rPr lang="vi-VN" dirty="0"/>
              <a:t>: chuẩn công nghiệp cho </a:t>
            </a:r>
            <a:r>
              <a:rPr lang="vi-VN" dirty="0" err="1"/>
              <a:t>stream</a:t>
            </a:r>
            <a:r>
              <a:rPr lang="vi-VN" dirty="0"/>
              <a:t>/</a:t>
            </a:r>
            <a:r>
              <a:rPr lang="vi-VN" dirty="0" err="1"/>
              <a:t>batch</a:t>
            </a:r>
            <a:r>
              <a:rPr lang="vi-VN" dirty="0"/>
              <a:t>; dễ chạy </a:t>
            </a:r>
            <a:r>
              <a:rPr lang="vi-VN" dirty="0" err="1"/>
              <a:t>local</a:t>
            </a:r>
            <a:r>
              <a:rPr lang="vi-VN" dirty="0"/>
              <a:t> → </a:t>
            </a:r>
            <a:r>
              <a:rPr lang="vi-VN" dirty="0" err="1"/>
              <a:t>cluster</a:t>
            </a:r>
            <a:r>
              <a:rPr lang="vi-VN" dirty="0"/>
              <a:t>.</a:t>
            </a:r>
          </a:p>
          <a:p>
            <a:r>
              <a:rPr lang="vi-VN" b="1" dirty="0" err="1"/>
              <a:t>Delta</a:t>
            </a:r>
            <a:r>
              <a:rPr lang="vi-VN" b="1" dirty="0"/>
              <a:t>/</a:t>
            </a:r>
            <a:r>
              <a:rPr lang="vi-VN" b="1" dirty="0" err="1"/>
              <a:t>Iceberg</a:t>
            </a:r>
            <a:r>
              <a:rPr lang="vi-VN" dirty="0"/>
              <a:t>: ACID + </a:t>
            </a:r>
            <a:r>
              <a:rPr lang="vi-VN" dirty="0" err="1"/>
              <a:t>time-travel</a:t>
            </a:r>
            <a:r>
              <a:rPr lang="vi-VN" dirty="0"/>
              <a:t>, thích hợp </a:t>
            </a:r>
            <a:r>
              <a:rPr lang="vi-VN" b="1" dirty="0" err="1"/>
              <a:t>feature</a:t>
            </a:r>
            <a:r>
              <a:rPr lang="vi-VN" b="1" dirty="0"/>
              <a:t> </a:t>
            </a:r>
            <a:r>
              <a:rPr lang="vi-VN" b="1" dirty="0" err="1"/>
              <a:t>store</a:t>
            </a:r>
            <a:r>
              <a:rPr lang="vi-VN" dirty="0"/>
              <a:t> và tái lập kết quả.</a:t>
            </a:r>
          </a:p>
          <a:p>
            <a:r>
              <a:rPr lang="vi-VN" b="1" dirty="0" err="1"/>
              <a:t>Druid</a:t>
            </a:r>
            <a:r>
              <a:rPr lang="vi-VN" b="1" dirty="0"/>
              <a:t>/</a:t>
            </a:r>
            <a:r>
              <a:rPr lang="vi-VN" b="1" dirty="0" err="1"/>
              <a:t>Redis</a:t>
            </a:r>
            <a:r>
              <a:rPr lang="vi-VN" dirty="0"/>
              <a:t>: truy vấn </a:t>
            </a:r>
            <a:r>
              <a:rPr lang="vi-VN" b="1" dirty="0"/>
              <a:t>thời gian thực</a:t>
            </a:r>
            <a:r>
              <a:rPr lang="vi-VN" dirty="0"/>
              <a:t> độ trễ thấp.</a:t>
            </a:r>
          </a:p>
          <a:p>
            <a:r>
              <a:rPr lang="vi-VN" b="1" dirty="0" err="1"/>
              <a:t>FastAPI</a:t>
            </a:r>
            <a:r>
              <a:rPr lang="vi-VN" dirty="0"/>
              <a:t>: nhẹ, dễ </a:t>
            </a:r>
            <a:r>
              <a:rPr lang="vi-VN" dirty="0" err="1"/>
              <a:t>deploy</a:t>
            </a:r>
            <a:r>
              <a:rPr lang="vi-VN" dirty="0"/>
              <a:t>; </a:t>
            </a:r>
            <a:r>
              <a:rPr lang="vi-VN" b="1" dirty="0" err="1"/>
              <a:t>Superset</a:t>
            </a:r>
            <a:r>
              <a:rPr lang="vi-VN" dirty="0"/>
              <a:t>: BI mã nguồn mở, kết nối đa nguồn.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2A9B5F3-0B9E-7C8A-0BBA-4A374AB3A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06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DC0E-EA3A-2410-5989-8C2C4DBE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6A282CAF-E29F-B005-DE4A-D29622BFB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C8560569-2361-DC8E-75A1-CDF6FF26A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Nhóm chia dự án thành 3 luồng công việc chạy song </a:t>
            </a:r>
            <a:r>
              <a:rPr lang="vi-VN" dirty="0" err="1"/>
              <a:t>song</a:t>
            </a:r>
            <a:r>
              <a:rPr lang="vi-VN" dirty="0"/>
              <a:t>:</a:t>
            </a:r>
          </a:p>
          <a:p>
            <a:r>
              <a:rPr lang="vi-VN" dirty="0"/>
              <a:t>(1) </a:t>
            </a:r>
            <a:r>
              <a:rPr lang="vi-VN" b="1" dirty="0"/>
              <a:t>Thu thập và xử lý dữ liệu</a:t>
            </a:r>
            <a:r>
              <a:rPr lang="vi-VN" dirty="0"/>
              <a:t> – gồm cài đặt </a:t>
            </a:r>
            <a:r>
              <a:rPr lang="vi-VN" dirty="0" err="1"/>
              <a:t>Spark</a:t>
            </a:r>
            <a:r>
              <a:rPr lang="vi-VN" dirty="0"/>
              <a:t>, </a:t>
            </a:r>
            <a:r>
              <a:rPr lang="vi-VN" dirty="0" err="1"/>
              <a:t>Kafka</a:t>
            </a:r>
            <a:r>
              <a:rPr lang="vi-VN" dirty="0"/>
              <a:t> và </a:t>
            </a:r>
            <a:r>
              <a:rPr lang="vi-VN" dirty="0" err="1"/>
              <a:t>Iceberg</a:t>
            </a:r>
            <a:r>
              <a:rPr lang="vi-VN" dirty="0"/>
              <a:t> để xây </a:t>
            </a:r>
            <a:r>
              <a:rPr lang="vi-VN" dirty="0" err="1"/>
              <a:t>pipeline</a:t>
            </a:r>
            <a:r>
              <a:rPr lang="vi-VN" dirty="0"/>
              <a:t> </a:t>
            </a:r>
            <a:r>
              <a:rPr lang="vi-VN" dirty="0" err="1"/>
              <a:t>ingestion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(2) </a:t>
            </a:r>
            <a:r>
              <a:rPr lang="vi-VN" b="1" dirty="0"/>
              <a:t>Huấn luyện mô hình gợi ý</a:t>
            </a:r>
            <a:r>
              <a:rPr lang="vi-VN" dirty="0"/>
              <a:t> dựa trên các đặc trưng âm thanh thu được.</a:t>
            </a:r>
            <a:br>
              <a:rPr lang="vi-VN" dirty="0"/>
            </a:br>
            <a:r>
              <a:rPr lang="vi-VN" dirty="0"/>
              <a:t>(3) </a:t>
            </a:r>
            <a:r>
              <a:rPr lang="vi-VN" b="1" dirty="0"/>
              <a:t>Xây dựng tầng API và </a:t>
            </a:r>
            <a:r>
              <a:rPr lang="vi-VN" b="1" dirty="0" err="1"/>
              <a:t>Dashboard</a:t>
            </a:r>
            <a:r>
              <a:rPr lang="vi-VN" dirty="0"/>
              <a:t> bằng </a:t>
            </a:r>
            <a:r>
              <a:rPr lang="vi-VN" dirty="0" err="1"/>
              <a:t>FastAPI</a:t>
            </a:r>
            <a:r>
              <a:rPr lang="vi-VN" dirty="0"/>
              <a:t> và </a:t>
            </a:r>
            <a:r>
              <a:rPr lang="vi-VN" dirty="0" err="1"/>
              <a:t>Superset</a:t>
            </a:r>
            <a:r>
              <a:rPr lang="vi-VN" dirty="0"/>
              <a:t> để hiển thị kết quả.</a:t>
            </a:r>
          </a:p>
          <a:p>
            <a:r>
              <a:rPr lang="vi-VN" dirty="0"/>
              <a:t>Toàn bộ quá trình kéo dài 8 tuần, trong đó:</a:t>
            </a:r>
          </a:p>
          <a:p>
            <a:r>
              <a:rPr lang="vi-VN" dirty="0"/>
              <a:t>Tuần đầu thiết lập môi trường và chuẩn bị dữ liệu,</a:t>
            </a:r>
          </a:p>
          <a:p>
            <a:r>
              <a:rPr lang="vi-VN" dirty="0"/>
              <a:t>Giữa kỳ tập trung xử lý, huấn luyện,</a:t>
            </a:r>
          </a:p>
          <a:p>
            <a:r>
              <a:rPr lang="vi-VN" dirty="0"/>
              <a:t>Cuối kỳ tích hợp, kiểm thử và hoàn thiện báo cáo.</a:t>
            </a:r>
          </a:p>
          <a:p>
            <a:r>
              <a:rPr lang="vi-VN" dirty="0"/>
              <a:t>Mỗi thành viên phụ trách một phần cụ thể nhưng luôn phối hợp chặt chẽ để kiểm tra </a:t>
            </a:r>
            <a:r>
              <a:rPr lang="vi-VN" dirty="0" err="1"/>
              <a:t>pipeline</a:t>
            </a:r>
            <a:r>
              <a:rPr lang="vi-VN" dirty="0"/>
              <a:t> </a:t>
            </a:r>
            <a:r>
              <a:rPr lang="vi-VN" dirty="0" err="1"/>
              <a:t>end</a:t>
            </a:r>
            <a:r>
              <a:rPr lang="vi-VN" dirty="0"/>
              <a:t>-to-</a:t>
            </a:r>
            <a:r>
              <a:rPr lang="vi-VN" dirty="0" err="1"/>
              <a:t>end</a:t>
            </a:r>
            <a:r>
              <a:rPr lang="vi-VN" dirty="0"/>
              <a:t>.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07C0F8A-2844-49B0-C039-2FF0016B7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8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83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058640"/>
            <a:ext cx="786141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Lưu </a:t>
            </a:r>
            <a:r>
              <a:rPr lang="en-US" sz="4800" dirty="0" err="1"/>
              <a:t>trữ</a:t>
            </a:r>
            <a:r>
              <a:rPr lang="en-US" sz="4800" dirty="0"/>
              <a:t> </a:t>
            </a:r>
            <a:r>
              <a:rPr lang="en-US" sz="4800" dirty="0" err="1"/>
              <a:t>và</a:t>
            </a:r>
            <a:r>
              <a:rPr lang="en-US" sz="4800" dirty="0"/>
              <a:t> </a:t>
            </a:r>
            <a:r>
              <a:rPr lang="en-US" sz="4800" dirty="0" err="1"/>
              <a:t>xử</a:t>
            </a:r>
            <a:r>
              <a:rPr lang="en-US" sz="4800" dirty="0"/>
              <a:t> </a:t>
            </a:r>
            <a:r>
              <a:rPr lang="en-US" sz="4800" dirty="0" err="1"/>
              <a:t>lý</a:t>
            </a:r>
            <a:r>
              <a:rPr lang="en-US" sz="4800" dirty="0"/>
              <a:t> </a:t>
            </a:r>
            <a:r>
              <a:rPr lang="en-US" sz="4800" dirty="0" err="1"/>
              <a:t>dữ</a:t>
            </a:r>
            <a:r>
              <a:rPr lang="en-US" sz="4800" dirty="0"/>
              <a:t> </a:t>
            </a:r>
            <a:r>
              <a:rPr lang="en-US" sz="4800" dirty="0" err="1"/>
              <a:t>liệu</a:t>
            </a:r>
            <a:r>
              <a:rPr lang="en-US" sz="4800" dirty="0"/>
              <a:t> </a:t>
            </a:r>
            <a:r>
              <a:rPr lang="en-US" sz="4800" dirty="0" err="1"/>
              <a:t>lớn</a:t>
            </a:r>
            <a:endParaRPr lang="en-US" sz="48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369230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 err="1"/>
              <a:t>Nhóm</a:t>
            </a:r>
            <a:r>
              <a:rPr lang="en-US" sz="2800" b="0" dirty="0"/>
              <a:t> 4 : 	       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547432FD-FD83-B57A-C6DC-835DE45B2092}"/>
              </a:ext>
            </a:extLst>
          </p:cNvPr>
          <p:cNvSpPr txBox="1">
            <a:spLocks/>
          </p:cNvSpPr>
          <p:nvPr/>
        </p:nvSpPr>
        <p:spPr>
          <a:xfrm>
            <a:off x="413012" y="2860195"/>
            <a:ext cx="786141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500" b="0" dirty="0"/>
              <a:t>GVHD: </a:t>
            </a:r>
            <a:r>
              <a:rPr lang="en-US" sz="2500" b="0" dirty="0" err="1"/>
              <a:t>Ths</a:t>
            </a:r>
            <a:r>
              <a:rPr lang="en-US" sz="2500" b="0" dirty="0"/>
              <a:t>. </a:t>
            </a:r>
            <a:r>
              <a:rPr lang="en-US" sz="2500" b="0" dirty="0" err="1"/>
              <a:t>Trần</a:t>
            </a:r>
            <a:r>
              <a:rPr lang="en-US" sz="2500" b="0" dirty="0"/>
              <a:t> Việt Trung</a:t>
            </a: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2355FE4C-6C17-E086-4125-617B649AF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825664"/>
              </p:ext>
            </p:extLst>
          </p:nvPr>
        </p:nvGraphicFramePr>
        <p:xfrm>
          <a:off x="2255361" y="3429000"/>
          <a:ext cx="4633277" cy="1850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690">
                  <a:extLst>
                    <a:ext uri="{9D8B030D-6E8A-4147-A177-3AD203B41FA5}">
                      <a16:colId xmlns:a16="http://schemas.microsoft.com/office/drawing/2014/main" val="4242985126"/>
                    </a:ext>
                  </a:extLst>
                </a:gridCol>
                <a:gridCol w="1834587">
                  <a:extLst>
                    <a:ext uri="{9D8B030D-6E8A-4147-A177-3AD203B41FA5}">
                      <a16:colId xmlns:a16="http://schemas.microsoft.com/office/drawing/2014/main" val="1414887997"/>
                    </a:ext>
                  </a:extLst>
                </a:gridCol>
              </a:tblGrid>
              <a:tr h="37001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C00000"/>
                          </a:solidFill>
                        </a:rPr>
                        <a:t>Lương </a:t>
                      </a:r>
                      <a:r>
                        <a:rPr lang="en-US" b="0" dirty="0" err="1">
                          <a:solidFill>
                            <a:srgbClr val="C00000"/>
                          </a:solidFill>
                        </a:rPr>
                        <a:t>Sỹ</a:t>
                      </a:r>
                      <a:r>
                        <a:rPr lang="en-US" b="0" dirty="0">
                          <a:solidFill>
                            <a:srgbClr val="C00000"/>
                          </a:solidFill>
                        </a:rPr>
                        <a:t> Linh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C00000"/>
                          </a:solidFill>
                        </a:rPr>
                        <a:t>20225029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819017"/>
                  </a:ext>
                </a:extLst>
              </a:tr>
              <a:tr h="37001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Nguyễn Xuân Bình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20224930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568684"/>
                  </a:ext>
                </a:extLst>
              </a:tr>
              <a:tr h="37001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Nguyễn </a:t>
                      </a:r>
                      <a:r>
                        <a:rPr lang="en-US" dirty="0" err="1">
                          <a:solidFill>
                            <a:srgbClr val="C00000"/>
                          </a:solidFill>
                        </a:rPr>
                        <a:t>Thế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 Nhật Minh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20225045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751282"/>
                  </a:ext>
                </a:extLst>
              </a:tr>
              <a:tr h="37001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Vi Hùng Đức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20224836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896596"/>
                  </a:ext>
                </a:extLst>
              </a:tr>
              <a:tr h="37001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Nguyễn Tùng Dương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20224968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313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0121" y="1268733"/>
            <a:ext cx="4610533" cy="530339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Lý do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Spotify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ghi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Big Data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real-time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World of Bin: BIN DEEZER &amp; SPOTIFY &amp; TIDAL">
            <a:extLst>
              <a:ext uri="{FF2B5EF4-FFF2-40B4-BE49-F238E27FC236}">
                <a16:creationId xmlns:a16="http://schemas.microsoft.com/office/drawing/2014/main" id="{4FAA1BF2-06BF-F052-93AA-FAC361847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9" r="14060"/>
          <a:stretch>
            <a:fillRect/>
          </a:stretch>
        </p:blipFill>
        <p:spPr bwMode="auto">
          <a:xfrm>
            <a:off x="4898485" y="1322227"/>
            <a:ext cx="3937796" cy="294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B0EF-41EC-41D6-72BD-42D40ECDB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327A7-BAF1-7532-492A-89BBE16C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6EB957-3411-0F58-DE85-66FF2AA2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6C317-2E3B-277C-F8EE-7EDCC007E7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9405" y="1129682"/>
            <a:ext cx="8674100" cy="530339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Thu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Spotify API.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Trích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audio features.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nghe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qua dashboard.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pipeline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end-to-end: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-&gt;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Lambda Architecture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47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076A-8378-0789-A536-9E2B4E81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AF69E5-1CF2-6957-F194-870F2DEE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B06067-3F52-2BD7-B328-7703F83D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Thông tin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7B559641-D674-339F-758E-289A4A003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667754"/>
              </p:ext>
            </p:extLst>
          </p:nvPr>
        </p:nvGraphicFramePr>
        <p:xfrm>
          <a:off x="681196" y="1633876"/>
          <a:ext cx="8100195" cy="3834725"/>
        </p:xfrm>
        <a:graphic>
          <a:graphicData uri="http://schemas.openxmlformats.org/drawingml/2006/table">
            <a:tbl>
              <a:tblPr/>
              <a:tblGrid>
                <a:gridCol w="2685513">
                  <a:extLst>
                    <a:ext uri="{9D8B030D-6E8A-4147-A177-3AD203B41FA5}">
                      <a16:colId xmlns:a16="http://schemas.microsoft.com/office/drawing/2014/main" val="1118504276"/>
                    </a:ext>
                  </a:extLst>
                </a:gridCol>
                <a:gridCol w="5414682">
                  <a:extLst>
                    <a:ext uri="{9D8B030D-6E8A-4147-A177-3AD203B41FA5}">
                      <a16:colId xmlns:a16="http://schemas.microsoft.com/office/drawing/2014/main" val="1063878078"/>
                    </a:ext>
                  </a:extLst>
                </a:gridCol>
              </a:tblGrid>
              <a:tr h="513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Nội</a:t>
                      </a: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</a:t>
                      </a: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tả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638704"/>
                  </a:ext>
                </a:extLst>
              </a:tr>
              <a:tr h="719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Nguồn</a:t>
                      </a: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endParaRPr lang="en-US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Spotify web API: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bài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hát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sĩ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, album, audio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086397"/>
                  </a:ext>
                </a:extLst>
              </a:tr>
              <a:tr h="445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</a:t>
                      </a: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</a:t>
                      </a: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phỏng</a:t>
                      </a:r>
                      <a:endParaRPr lang="en-US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Khoảng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1–3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triệu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nhạc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396958"/>
                  </a:ext>
                </a:extLst>
              </a:tr>
              <a:tr h="719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000" b="0" dirty="0"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Môi trường triển khai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/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Colab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718063"/>
                  </a:ext>
                </a:extLst>
              </a:tr>
              <a:tr h="719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bao </a:t>
                      </a: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gồm</a:t>
                      </a:r>
                      <a:endParaRPr lang="en-US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dung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hoặc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quyền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thương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mại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14573"/>
                  </a:ext>
                </a:extLst>
              </a:tr>
              <a:tr h="719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</a:t>
                      </a:r>
                      <a:endParaRPr lang="en-US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phỏng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streaming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thay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vì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truy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cập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real-user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44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520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9A28-22F1-3CA5-D8BC-64B832B65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456439-409F-EE0D-613D-E4BA63BD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5689E3-9C96-4B82-F2D4-A2D8C722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A5BFE-6A8C-DB28-FD03-DE505AC8B5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758" y="1013587"/>
            <a:ext cx="8153181" cy="6448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Spotify Big Data Pipeline – Lambda Architecture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Hình ảnh 9" descr="Ảnh có chứa ảnh chụp màn hình, văn bản, hàng, biểu đồ&#10;&#10;Nội dung do AI tạo ra có thể không chính xác.">
            <a:extLst>
              <a:ext uri="{FF2B5EF4-FFF2-40B4-BE49-F238E27FC236}">
                <a16:creationId xmlns:a16="http://schemas.microsoft.com/office/drawing/2014/main" id="{253C40A7-3082-D6DD-B181-4FDAC2DF9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002" y="1515533"/>
            <a:ext cx="10050004" cy="2836334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65F952FB-0160-5DAF-D1B1-B466ED88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82" y="4485533"/>
            <a:ext cx="867384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Arial" panose="020B0604020202020204" pitchFamily="34" charset="0"/>
              </a:rPr>
              <a:t>Hệ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thống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được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thiết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kế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theo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Lambda Architecture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gồm</a:t>
            </a:r>
            <a:r>
              <a:rPr lang="en-US" altLang="en-US" dirty="0">
                <a:latin typeface="Arial" panose="020B0604020202020204" pitchFamily="34" charset="0"/>
              </a:rPr>
              <a:t> 3 </a:t>
            </a:r>
            <a:r>
              <a:rPr lang="en-US" altLang="en-US" dirty="0" err="1">
                <a:latin typeface="Arial" panose="020B0604020202020204" pitchFamily="34" charset="0"/>
              </a:rPr>
              <a:t>tầng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chính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Ingestion: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streaming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batch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Spotify API.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luồng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real-time </a:t>
            </a:r>
            <a:r>
              <a:rPr lang="en-US" altLang="en-US" dirty="0" err="1">
                <a:latin typeface="Arial" panose="020B0604020202020204" pitchFamily="34" charset="0"/>
              </a:rPr>
              <a:t>và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dữ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liệu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lịch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sử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Serving: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Lưu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trữ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và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trực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quan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hóa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thông</a:t>
            </a:r>
            <a:r>
              <a:rPr lang="en-US" altLang="en-US" dirty="0">
                <a:latin typeface="Arial" panose="020B0604020202020204" pitchFamily="34" charset="0"/>
              </a:rPr>
              <a:t> tin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đảm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241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0B19-C08B-4BDB-0024-747C5868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7F0FC-FBC2-C557-699E-3B16A9AB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E6E683-56BD-7D7E-3458-82DD0F18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</p:txBody>
      </p:sp>
      <p:graphicFrame>
        <p:nvGraphicFramePr>
          <p:cNvPr id="9" name="Bảng 8">
            <a:extLst>
              <a:ext uri="{FF2B5EF4-FFF2-40B4-BE49-F238E27FC236}">
                <a16:creationId xmlns:a16="http://schemas.microsoft.com/office/drawing/2014/main" id="{18514A74-0236-CADA-CADA-DCD08EA2C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37858"/>
              </p:ext>
            </p:extLst>
          </p:nvPr>
        </p:nvGraphicFramePr>
        <p:xfrm>
          <a:off x="374430" y="1268455"/>
          <a:ext cx="8395140" cy="4565568"/>
        </p:xfrm>
        <a:graphic>
          <a:graphicData uri="http://schemas.openxmlformats.org/drawingml/2006/table">
            <a:tbl>
              <a:tblPr/>
              <a:tblGrid>
                <a:gridCol w="792218">
                  <a:extLst>
                    <a:ext uri="{9D8B030D-6E8A-4147-A177-3AD203B41FA5}">
                      <a16:colId xmlns:a16="http://schemas.microsoft.com/office/drawing/2014/main" val="3759539117"/>
                    </a:ext>
                  </a:extLst>
                </a:gridCol>
                <a:gridCol w="2215055">
                  <a:extLst>
                    <a:ext uri="{9D8B030D-6E8A-4147-A177-3AD203B41FA5}">
                      <a16:colId xmlns:a16="http://schemas.microsoft.com/office/drawing/2014/main" val="200172173"/>
                    </a:ext>
                  </a:extLst>
                </a:gridCol>
                <a:gridCol w="2199290">
                  <a:extLst>
                    <a:ext uri="{9D8B030D-6E8A-4147-A177-3AD203B41FA5}">
                      <a16:colId xmlns:a16="http://schemas.microsoft.com/office/drawing/2014/main" val="1046225305"/>
                    </a:ext>
                  </a:extLst>
                </a:gridCol>
                <a:gridCol w="2120462">
                  <a:extLst>
                    <a:ext uri="{9D8B030D-6E8A-4147-A177-3AD203B41FA5}">
                      <a16:colId xmlns:a16="http://schemas.microsoft.com/office/drawing/2014/main" val="1240155062"/>
                    </a:ext>
                  </a:extLst>
                </a:gridCol>
                <a:gridCol w="1068115">
                  <a:extLst>
                    <a:ext uri="{9D8B030D-6E8A-4147-A177-3AD203B41FA5}">
                      <a16:colId xmlns:a16="http://schemas.microsoft.com/office/drawing/2014/main" val="4164800953"/>
                    </a:ext>
                  </a:extLst>
                </a:gridCol>
              </a:tblGrid>
              <a:tr h="384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 (Thu </a:t>
                      </a:r>
                      <a:r>
                        <a:rPr lang="en-US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thập</a:t>
                      </a: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(</a:t>
                      </a:r>
                      <a:r>
                        <a:rPr lang="en-US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</a:t>
                      </a: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5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Gợi</a:t>
                      </a: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ý)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&amp; Dashboard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Người phụ trách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419884"/>
                  </a:ext>
                </a:extLst>
              </a:tr>
              <a:tr h="1555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1–2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Tìm hiểu </a:t>
                      </a:r>
                      <a:r>
                        <a:rPr lang="vi-VN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Spotify</a:t>
                      </a:r>
                      <a:r>
                        <a:rPr lang="vi-V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API, thiết kế </a:t>
                      </a:r>
                      <a:r>
                        <a:rPr lang="vi-VN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schema</a:t>
                      </a:r>
                      <a:r>
                        <a:rPr lang="vi-V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cài đặt môi trường (</a:t>
                      </a:r>
                      <a:r>
                        <a:rPr lang="vi-VN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Kafka</a:t>
                      </a:r>
                      <a:r>
                        <a:rPr lang="vi-V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vi-VN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Spark</a:t>
                      </a:r>
                      <a:r>
                        <a:rPr lang="vi-V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vi-VN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</a:t>
                      </a:r>
                      <a:r>
                        <a:rPr lang="vi-V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 tích dữ liệu mẫu, chuẩn bị đặc trưng ban đầu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dashboard </a:t>
                      </a: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API layout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Linh – Bình – Minh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494090"/>
                  </a:ext>
                </a:extLst>
              </a:tr>
              <a:tr h="888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3–4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 dựng pipeline ingestion &amp; xử lý real-time + batch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Huấn luyện mô hình gợi ý cơ bản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 nối API và dashboard thử nghiệm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3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Đức – Dương</a:t>
                      </a:r>
                      <a:endParaRPr lang="vi-VN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556653"/>
                  </a:ext>
                </a:extLst>
              </a:tr>
              <a:tr h="888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5–6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Hoàn thiện pipeline, tối ưu lưu trữ &amp; xử lý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Cải thiện mô hình, đánh giá kết quả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dashboard </a:t>
                      </a: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chỉnh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(Realtime &amp; Analytical)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3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Minh – Dương</a:t>
                      </a:r>
                      <a:endParaRPr lang="vi-VN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43283"/>
                  </a:ext>
                </a:extLst>
              </a:tr>
              <a:tr h="721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7–8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 hợp toàn hệ thống, kiểm thử và trình diễn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Tổng hợp kết quả, báo cáo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Hoàn thiện slide &amp; chuẩn bị thuyết trình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Cả</a:t>
                      </a:r>
                      <a:r>
                        <a:rPr lang="en-US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nhóm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56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388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994F5C-A04D-9171-5B3B-35B29953B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38" y="1378457"/>
            <a:ext cx="854975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tới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pipeline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hoàn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chỉnh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ở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nhỏ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kê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xu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nhạc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Thử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nghiệm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chứng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khả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rộng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rộng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thêm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(user behavior).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Nâng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sang Deep Learning Recommendation (DLRM).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Triển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toàn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pipeline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Cluster.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898</TotalTime>
  <Words>2128</Words>
  <Application>Microsoft Office PowerPoint</Application>
  <PresentationFormat>Trình chiếu Trên màn hình (4:3)</PresentationFormat>
  <Paragraphs>186</Paragraphs>
  <Slides>9</Slides>
  <Notes>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3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Giới thiệu về đề tài</vt:lpstr>
      <vt:lpstr>Mục tiêu và ứng dụng</vt:lpstr>
      <vt:lpstr>Thông tin dự án và phạm vi dự án</vt:lpstr>
      <vt:lpstr>Kiến trúc dự án</vt:lpstr>
      <vt:lpstr>Kế hoạch triển khai và phân công trực tiếp</vt:lpstr>
      <vt:lpstr>Mục tiêu và kết quả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Linh Luong</cp:lastModifiedBy>
  <cp:revision>16</cp:revision>
  <dcterms:created xsi:type="dcterms:W3CDTF">2021-05-28T04:32:29Z</dcterms:created>
  <dcterms:modified xsi:type="dcterms:W3CDTF">2025-10-14T21:07:08Z</dcterms:modified>
</cp:coreProperties>
</file>